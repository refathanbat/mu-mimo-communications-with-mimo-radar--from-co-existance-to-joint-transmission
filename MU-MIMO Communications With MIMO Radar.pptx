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92" r:id="rId2"/>
    <p:sldId id="274" r:id="rId3"/>
    <p:sldId id="293" r:id="rId4"/>
    <p:sldId id="294" r:id="rId5"/>
    <p:sldId id="295" r:id="rId6"/>
    <p:sldId id="296" r:id="rId7"/>
    <p:sldId id="297" r:id="rId8"/>
    <p:sldId id="298" r:id="rId9"/>
    <p:sldId id="299" r:id="rId10"/>
    <p:sldId id="300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308" r:id="rId19"/>
    <p:sldId id="309" r:id="rId20"/>
    <p:sldId id="310" r:id="rId21"/>
    <p:sldId id="311" r:id="rId22"/>
    <p:sldId id="312" r:id="rId23"/>
    <p:sldId id="313" r:id="rId24"/>
    <p:sldId id="314" r:id="rId25"/>
    <p:sldId id="315" r:id="rId26"/>
    <p:sldId id="316" r:id="rId27"/>
    <p:sldId id="317" r:id="rId28"/>
    <p:sldId id="318" r:id="rId29"/>
    <p:sldId id="319" r:id="rId30"/>
    <p:sldId id="320" r:id="rId31"/>
    <p:sldId id="321" r:id="rId32"/>
    <p:sldId id="322" r:id="rId33"/>
    <p:sldId id="323" r:id="rId34"/>
    <p:sldId id="324" r:id="rId35"/>
    <p:sldId id="325" r:id="rId36"/>
    <p:sldId id="326" r:id="rId37"/>
    <p:sldId id="327" r:id="rId38"/>
    <p:sldId id="328" r:id="rId39"/>
    <p:sldId id="329" r:id="rId40"/>
    <p:sldId id="330" r:id="rId41"/>
    <p:sldId id="331" r:id="rId42"/>
    <p:sldId id="332" r:id="rId43"/>
    <p:sldId id="333" r:id="rId44"/>
    <p:sldId id="334" r:id="rId45"/>
    <p:sldId id="335" r:id="rId4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B46CF76-6501-4C01-8D47-EB88EF4B73FE}">
          <p14:sldIdLst>
            <p14:sldId id="292"/>
            <p14:sldId id="274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90" autoAdjust="0"/>
    <p:restoredTop sz="94694"/>
  </p:normalViewPr>
  <p:slideViewPr>
    <p:cSldViewPr snapToGrid="0">
      <p:cViewPr varScale="1">
        <p:scale>
          <a:sx n="152" d="100"/>
          <a:sy n="152" d="100"/>
        </p:scale>
        <p:origin x="272" y="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96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7A80AD-75C0-4139-8349-D7A56AAE3422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B06930-2FBF-4BDF-BB7A-ED0F3C0B85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6361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2BAEBA-F25F-4473-80C2-25CDA93B21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25EA62A-FC14-43A6-9DFC-64DD0EA5E66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73821"/>
            <a:ext cx="9144000" cy="1655762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Master Subtitle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4FBF63-6BE2-44A2-9B92-27824B375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3EF48-9CCD-4EE9-BB40-4739D0DAE972}" type="datetime1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98BBDE-AC92-4490-AADC-B4FE998E9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7C4298-2A89-4F0A-B1C0-77A882953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68C916F-6552-480F-893B-32796E62A980}"/>
              </a:ext>
            </a:extLst>
          </p:cNvPr>
          <p:cNvSpPr/>
          <p:nvPr userDrawn="1"/>
        </p:nvSpPr>
        <p:spPr>
          <a:xfrm>
            <a:off x="838200" y="3599357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452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21520A-C81E-4CF1-AECD-A61D6660DB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8E0C27-FA2C-4144-B7E7-505744E575A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FB215-C15F-4E74-86DC-78FAD0147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4ADD3-F434-478C-876A-1D3933DF4707}" type="datetime1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1EAFA9-F342-4D37-B503-8DFA950A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22012F-5023-43D1-B1CF-BFE3A8931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1333107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05CEF90-2A69-4F23-93AB-B8D6AADF74CD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9896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A8F93D-390F-465E-B0D5-72A75C2739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470026"/>
            <a:ext cx="10515600" cy="2852737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01743D-6833-4A7C-B35A-0BDDB635A98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Master Subtitle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C2845C-3C54-4151-820C-12503D6F2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F26BB-6A75-410D-A6B0-8FD34915C10D}" type="datetime1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55650C-CE10-43E1-AA00-22EE20BAA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FE2F95-697E-490C-9C4D-A59E0F91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21879A5-E33B-484A-B193-FE66531AACAC}"/>
              </a:ext>
            </a:extLst>
          </p:cNvPr>
          <p:cNvSpPr/>
          <p:nvPr userDrawn="1"/>
        </p:nvSpPr>
        <p:spPr>
          <a:xfrm>
            <a:off x="838200" y="4413578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864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17D261-400F-43CD-95C8-FE0DF8044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346026-ED45-448B-8D67-475453B7B90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649691"/>
            <a:ext cx="5104598" cy="45272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86C6A5-08D8-440E-B258-B881C64EC21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649691"/>
            <a:ext cx="5181600" cy="45272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9FDB51-62F3-4D1B-B8F7-D40284A70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4CDF8-1723-475A-8393-34F016E9B184}" type="datetime1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744B04-D686-4DE2-BDDC-A3B4F371D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FBE183-4474-4131-AEA4-9ADE4020A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3208725-7285-4D04-9690-A0DD84547197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246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EBF73A-35E0-4388-AE26-587E20896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9F70A1-A021-4782-95A0-99F4C3203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0FFB53-257A-4315-A28C-9FE12D4C99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FA17D5D-46C0-4878-B7E2-BD08FCD075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0C2F3F9-8CCB-4F5B-85A6-D7470170DC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047C80F-A4FC-4C78-89AB-B072C5C0E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CCD4A-1F8C-4D3E-BDD6-84C4090AF0D6}" type="datetime1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AD4C5CE-D7DE-4C43-8F9E-7EA5847ED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81C2CFA-CB2F-4476-8491-FBDAB29C3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163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1B9CC5-A2AF-47C1-8376-B695DF820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5A6AA3E-6C10-4BA8-AF8D-ECF436F9C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73545-46C1-49FB-A041-5415163523D0}" type="datetime1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DE3192-439D-4BEF-8848-4DF7C36D1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305EAAA-CE1A-4578-A8FD-BDB3D530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9670823-6C59-4996-843F-A4B8E1292D69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2351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4FA01BA-2C19-4BC8-9D08-60CC0DEE3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BC6A4-6274-4803-89FF-1DA18D4FE7AA}" type="datetime1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C921DE2-A0F7-482E-898F-C86B8C830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96F57A-5DCA-4541-B19A-1752D1A3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119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304372-0C6C-4F44-86AB-8DDAF142F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E88709-254A-4ED6-9188-74666615F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5872FF-AC9A-49BF-AC6E-F9EA1A4066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17015C5-8E89-4986-AA3C-42A3F8FB6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A353D-6971-4305-AB04-6AEE4DD0E048}" type="datetime1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82C019-EAA8-4CD6-BD5A-68BA98421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776716-556D-4628-94B1-7BC9A3454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5152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0E144E-AA68-4DFD-9736-416AF8EEE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C731A3-5F0D-4649-AF33-2F2F12D18B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0070ED-93CE-4C5B-9A13-47766D18CF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C3E617-2B4B-4C49-B34C-F13496F5B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75523-461B-44DB-AD97-7C06B206BE7B}" type="datetime1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88F62D-BB02-4585-B0DB-6C572478F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DA3767-C6FA-46EE-B82E-E441B3360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8994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5A2004-1E3B-4055-8772-F325E519E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9AC7F-90CD-432E-AFBA-09A312E26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3CBBB0-BA78-4216-B318-AF5F69D9D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620A-9A66-47B0-9218-43F171A33458}" type="datetime1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AE3B40-907A-49D6-9FA8-D643E4B4A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417526-857D-45AD-9891-D1359E79B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1E34BDA-8046-4B35-A748-33A5A9C8C415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787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9286F9E-ABB1-47D9-BCD5-5FE077BEA2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74F122D-472C-4176-9045-BF5B3ED412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F40FC9-5A0B-483C-BEC0-6349DDDF1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586D9-B5F3-454A-8918-B4C99ED5AEDE}" type="datetime1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FF7ACB-A377-4E38-BF13-4CE4A72C6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E2AD96-62E9-4856-8C7D-4FC6FA78D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334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30155A6-5E23-4681-A0F6-D6378107C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9054"/>
            <a:ext cx="10515600" cy="681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3357F3-390C-49AE-BB15-6F8F57DC0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49691"/>
            <a:ext cx="10515600" cy="45272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D9027F-305A-4270-8200-1B8B6B4B76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38399" y="6356350"/>
            <a:ext cx="13331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9D1D2423-15C0-4D7C-B759-40ACCC100800}" type="datetime1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1B4A95-7775-4330-B809-DA1B22478E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F4CA50-4832-40EE-82BE-A431AAD806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13331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A439D109-9F59-4B0B-8E20-D6D3A384B1F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FEB3B3E-F3B6-4A77-8CE1-CA270A7A296F}"/>
              </a:ext>
            </a:extLst>
          </p:cNvPr>
          <p:cNvSpPr/>
          <p:nvPr userDrawn="1"/>
        </p:nvSpPr>
        <p:spPr>
          <a:xfrm>
            <a:off x="0" y="0"/>
            <a:ext cx="12192000" cy="235670"/>
          </a:xfrm>
          <a:prstGeom prst="rect">
            <a:avLst/>
          </a:prstGeom>
          <a:gradFill>
            <a:gsLst>
              <a:gs pos="63000">
                <a:schemeClr val="tx1"/>
              </a:gs>
              <a:gs pos="0">
                <a:schemeClr val="tx1"/>
              </a:gs>
              <a:gs pos="80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64D56D-F798-41D4-B204-99B8E8DEAB5A}"/>
              </a:ext>
            </a:extLst>
          </p:cNvPr>
          <p:cNvSpPr txBox="1"/>
          <p:nvPr userDrawn="1"/>
        </p:nvSpPr>
        <p:spPr>
          <a:xfrm>
            <a:off x="8501826" y="6550223"/>
            <a:ext cx="3690174" cy="307777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 dirty="0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altLang="ko-KR" sz="105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ognitive</a:t>
            </a:r>
            <a:r>
              <a:rPr lang="en-US" altLang="ko-KR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b="1" dirty="0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altLang="ko-KR" sz="105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ommunications</a:t>
            </a:r>
            <a:r>
              <a:rPr lang="en-US" altLang="ko-KR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b="1" dirty="0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US" altLang="ko-KR" sz="105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ystems</a:t>
            </a:r>
            <a:r>
              <a:rPr lang="en-US" altLang="ko-KR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b="1" dirty="0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lang="en-US" altLang="ko-KR" sz="105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aboratory</a:t>
            </a:r>
            <a:endParaRPr lang="en-US" altLang="ko-KR" sz="1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501637D-BAF8-43B2-A298-C5B3DAB223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077" b="34980"/>
          <a:stretch/>
        </p:blipFill>
        <p:spPr>
          <a:xfrm>
            <a:off x="9886511" y="17253"/>
            <a:ext cx="527404" cy="52627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0D9003C-FC42-4D68-ADBA-ADDEC8861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t="68955" b="6534"/>
          <a:stretch/>
        </p:blipFill>
        <p:spPr>
          <a:xfrm>
            <a:off x="10413915" y="17253"/>
            <a:ext cx="1760832" cy="52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94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author/37299872300" TargetMode="External"/><Relationship Id="rId2" Type="http://schemas.openxmlformats.org/officeDocument/2006/relationships/hyperlink" Target="https://ieeexplore.ieee.org/author/37086080022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ieeexplore.ieee.org/author/37276255400" TargetMode="External"/><Relationship Id="rId5" Type="http://schemas.openxmlformats.org/officeDocument/2006/relationships/hyperlink" Target="https://ieeexplore.ieee.org/author/37896999500" TargetMode="External"/><Relationship Id="rId4" Type="http://schemas.openxmlformats.org/officeDocument/2006/relationships/hyperlink" Target="https://ieeexplore.ieee.org/author/37085481022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64C1A32-D3DA-9A07-E738-22AFF03980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MU-MIMO Communications With MIMO Radar: From Co-Existence to Joint Transmission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8D6D1371-521D-F9E0-A10E-C2CF3C571E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u="sng" dirty="0">
                <a:hlinkClick r:id="rId2"/>
              </a:rPr>
              <a:t>Fan Liu</a:t>
            </a:r>
            <a:r>
              <a:rPr lang="en-US" dirty="0"/>
              <a:t>; </a:t>
            </a:r>
            <a:r>
              <a:rPr lang="en-US" u="sng" dirty="0">
                <a:hlinkClick r:id="rId3"/>
              </a:rPr>
              <a:t>Christos </a:t>
            </a:r>
            <a:r>
              <a:rPr lang="en-US" u="sng" dirty="0" err="1">
                <a:hlinkClick r:id="rId3"/>
              </a:rPr>
              <a:t>Masouros</a:t>
            </a:r>
            <a:r>
              <a:rPr lang="en-US" dirty="0"/>
              <a:t>; </a:t>
            </a:r>
            <a:r>
              <a:rPr lang="en-US" u="sng" dirty="0">
                <a:hlinkClick r:id="rId4"/>
              </a:rPr>
              <a:t>Ang Li</a:t>
            </a:r>
            <a:r>
              <a:rPr lang="en-US" dirty="0"/>
              <a:t>; </a:t>
            </a:r>
            <a:r>
              <a:rPr lang="en-US" u="sng" dirty="0" err="1">
                <a:hlinkClick r:id="rId5"/>
              </a:rPr>
              <a:t>Huafei</a:t>
            </a:r>
            <a:r>
              <a:rPr lang="en-US" u="sng" dirty="0">
                <a:hlinkClick r:id="rId5"/>
              </a:rPr>
              <a:t> Sun</a:t>
            </a:r>
            <a:r>
              <a:rPr lang="en-US" dirty="0"/>
              <a:t>; </a:t>
            </a:r>
            <a:r>
              <a:rPr lang="en-US" u="sng" dirty="0">
                <a:hlinkClick r:id="rId6"/>
              </a:rPr>
              <a:t>Lajos Hanzo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028E4-9150-4692-4321-C1836A569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981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9A63BD-632A-E13F-ED45-46297E6CA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915FF1-8600-0947-1F4B-E2B7EB5B1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Abstract </a:t>
            </a:r>
          </a:p>
          <a:p>
            <a:pPr>
              <a:lnSpc>
                <a:spcPct val="150000"/>
              </a:lnSpc>
            </a:pPr>
            <a:r>
              <a:rPr lang="en-US" dirty="0"/>
              <a:t>Introduction</a:t>
            </a:r>
          </a:p>
          <a:p>
            <a:pPr>
              <a:lnSpc>
                <a:spcPct val="150000"/>
              </a:lnSpc>
            </a:pPr>
            <a:r>
              <a:rPr lang="en-US" dirty="0"/>
              <a:t>System Model</a:t>
            </a:r>
          </a:p>
          <a:p>
            <a:pPr>
              <a:lnSpc>
                <a:spcPct val="150000"/>
              </a:lnSpc>
            </a:pPr>
            <a:r>
              <a:rPr lang="en-US" dirty="0"/>
              <a:t>Problem Formulation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AE1787-D847-5707-B4ED-D6E17C158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0060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5B6E8-D5A8-D39C-9969-F51355BAD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48241-6C5B-88F5-6F00-10F74E3F9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/>
              <a:t>Joint MIMO Radar-Communication System</a:t>
            </a:r>
            <a:endParaRPr lang="en-US" sz="1800" dirty="0"/>
          </a:p>
          <a:p>
            <a:pPr lvl="1"/>
            <a:r>
              <a:rPr lang="en-US" sz="1600" dirty="0"/>
              <a:t>A single </a:t>
            </a:r>
            <a:r>
              <a:rPr lang="en-US" sz="1600" b="1" dirty="0"/>
              <a:t>MIMO platform</a:t>
            </a:r>
            <a:r>
              <a:rPr lang="en-US" sz="1600" dirty="0"/>
              <a:t> works as both</a:t>
            </a:r>
          </a:p>
          <a:p>
            <a:pPr lvl="1"/>
            <a:r>
              <a:rPr lang="en-US" sz="1600" b="1" dirty="0"/>
              <a:t>Radar</a:t>
            </a:r>
            <a:r>
              <a:rPr lang="en-US" sz="1600" dirty="0"/>
              <a:t> for target detection and </a:t>
            </a:r>
            <a:r>
              <a:rPr lang="en-US" sz="1600" b="1" dirty="0"/>
              <a:t>communication BS</a:t>
            </a:r>
            <a:r>
              <a:rPr lang="en-US" sz="1600" dirty="0"/>
              <a:t> for downlink users. </a:t>
            </a:r>
          </a:p>
          <a:p>
            <a:pPr lvl="1"/>
            <a:r>
              <a:rPr lang="en-US" sz="1600" dirty="0"/>
              <a:t>The system performs </a:t>
            </a:r>
            <a:r>
              <a:rPr lang="en-US" sz="1600" b="1" dirty="0"/>
              <a:t>simultaneous sensing and communication</a:t>
            </a:r>
            <a:r>
              <a:rPr lang="en-US" sz="1600" dirty="0"/>
              <a:t> in the </a:t>
            </a:r>
            <a:r>
              <a:rPr lang="en-US" sz="1600" b="1" dirty="0"/>
              <a:t>same frequency band</a:t>
            </a:r>
            <a:r>
              <a:rPr lang="en-US" sz="1600" dirty="0"/>
              <a:t>. </a:t>
            </a:r>
          </a:p>
          <a:p>
            <a:pPr lvl="1"/>
            <a:r>
              <a:rPr lang="en-US" sz="1600" dirty="0"/>
              <a:t>The paper considers </a:t>
            </a:r>
            <a:r>
              <a:rPr lang="en-US" sz="1600" b="1" dirty="0"/>
              <a:t>two deployment modes</a:t>
            </a:r>
            <a:r>
              <a:rPr lang="en-US" sz="1600" dirty="0"/>
              <a:t>: </a:t>
            </a:r>
          </a:p>
          <a:p>
            <a:pPr lvl="2"/>
            <a:r>
              <a:rPr lang="en-US" sz="1400" b="1" dirty="0"/>
              <a:t>Separated Deployment</a:t>
            </a:r>
            <a:endParaRPr lang="en-US" sz="1400" dirty="0"/>
          </a:p>
          <a:p>
            <a:pPr lvl="3"/>
            <a:r>
              <a:rPr lang="en-US" sz="1400" dirty="0"/>
              <a:t>Antennas are split into two groups:</a:t>
            </a:r>
            <a:br>
              <a:rPr lang="en-US" sz="1400" dirty="0"/>
            </a:br>
            <a:r>
              <a:rPr lang="en-US" sz="1400" b="1" dirty="0"/>
              <a:t>radar antennas</a:t>
            </a:r>
            <a:r>
              <a:rPr lang="en-US" sz="1400" dirty="0"/>
              <a:t> and </a:t>
            </a:r>
            <a:r>
              <a:rPr lang="en-US" sz="1400" b="1" dirty="0"/>
              <a:t>communication antennas</a:t>
            </a:r>
            <a:r>
              <a:rPr lang="en-US" sz="1400" dirty="0"/>
              <a:t> </a:t>
            </a:r>
          </a:p>
          <a:p>
            <a:pPr lvl="3"/>
            <a:r>
              <a:rPr lang="en-US" sz="1400" dirty="0"/>
              <a:t>Radar signal is forced into the </a:t>
            </a:r>
            <a:r>
              <a:rPr lang="en-US" sz="1400" b="1" dirty="0"/>
              <a:t>null space</a:t>
            </a:r>
            <a:r>
              <a:rPr lang="en-US" sz="1400" dirty="0"/>
              <a:t> of downlink channels </a:t>
            </a:r>
          </a:p>
          <a:p>
            <a:pPr lvl="3"/>
            <a:r>
              <a:rPr lang="en-US" sz="1400" dirty="0"/>
              <a:t> The communication beamformer is designed to </a:t>
            </a:r>
            <a:r>
              <a:rPr lang="en-US" sz="1400" b="1" dirty="0"/>
              <a:t>match the radar beampattern</a:t>
            </a:r>
            <a:r>
              <a:rPr lang="en-US" sz="1400" dirty="0"/>
              <a:t> while satisfying user                  requirements </a:t>
            </a:r>
          </a:p>
          <a:p>
            <a:pPr lvl="2"/>
            <a:r>
              <a:rPr lang="en-US" sz="1400" b="1" dirty="0"/>
              <a:t>Shared Deployment</a:t>
            </a:r>
            <a:endParaRPr lang="en-US" sz="1400" dirty="0"/>
          </a:p>
          <a:p>
            <a:pPr lvl="3"/>
            <a:r>
              <a:rPr lang="en-US" sz="1400" dirty="0"/>
              <a:t>All antennas are shared by both radar and communication </a:t>
            </a:r>
          </a:p>
          <a:p>
            <a:pPr lvl="3"/>
            <a:r>
              <a:rPr lang="en-US" sz="1400" dirty="0"/>
              <a:t>A </a:t>
            </a:r>
            <a:r>
              <a:rPr lang="en-US" sz="1400" b="1" dirty="0"/>
              <a:t>joint waveform</a:t>
            </a:r>
            <a:r>
              <a:rPr lang="en-US" sz="1400" dirty="0"/>
              <a:t> is transmitted for both functions </a:t>
            </a:r>
          </a:p>
          <a:p>
            <a:pPr lvl="3"/>
            <a:r>
              <a:rPr lang="en-US" sz="1400" dirty="0"/>
              <a:t>Radar beampattern and downlink communication performance are designed jointly </a:t>
            </a:r>
          </a:p>
          <a:p>
            <a:endParaRPr lang="en-US" sz="1800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FD6BE-E1A7-05AE-7D55-FCFCF7AD4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88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B363C-FDA1-F705-B872-04665DEC6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23423-D600-A175-33DB-0B614F022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Beamforming Design and Key Results</a:t>
            </a:r>
            <a:endParaRPr lang="en-US" dirty="0"/>
          </a:p>
          <a:p>
            <a:pPr lvl="1"/>
            <a:r>
              <a:rPr lang="en-US" dirty="0"/>
              <a:t>Original beamforming problems include: </a:t>
            </a:r>
          </a:p>
          <a:p>
            <a:pPr marL="1200150" lvl="2" indent="-285750"/>
            <a:r>
              <a:rPr lang="en-US" b="1" dirty="0"/>
              <a:t>Radar beampattern design</a:t>
            </a:r>
            <a:r>
              <a:rPr lang="en-US" dirty="0"/>
              <a:t> </a:t>
            </a:r>
          </a:p>
          <a:p>
            <a:pPr marL="1200150" lvl="2" indent="-285750"/>
            <a:r>
              <a:rPr lang="en-US" b="1" dirty="0"/>
              <a:t>Downlink SINR constraints</a:t>
            </a:r>
            <a:r>
              <a:rPr lang="en-US" dirty="0"/>
              <a:t> </a:t>
            </a:r>
          </a:p>
          <a:p>
            <a:pPr marL="1200150" lvl="2" indent="-285750"/>
            <a:r>
              <a:rPr lang="en-US" b="1" dirty="0"/>
              <a:t>Transmit power constraints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To simplify the design, the paper moves the </a:t>
            </a:r>
            <a:r>
              <a:rPr lang="en-US" b="1" dirty="0"/>
              <a:t>SINR constraints</a:t>
            </a:r>
            <a:r>
              <a:rPr lang="en-US" dirty="0"/>
              <a:t> into the objective function as       </a:t>
            </a:r>
            <a:r>
              <a:rPr lang="en-US" b="1" dirty="0"/>
              <a:t>penalty terms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This converts the original constrained problems into </a:t>
            </a:r>
            <a:r>
              <a:rPr lang="en-US" b="1" dirty="0"/>
              <a:t>weighted optimization problems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The weighted problems are solved using </a:t>
            </a:r>
            <a:r>
              <a:rPr lang="en-US" b="1" dirty="0"/>
              <a:t>manifold optimization algorithms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Manifold methods provide: </a:t>
            </a:r>
          </a:p>
          <a:p>
            <a:pPr marL="1200150" lvl="2" indent="-285750"/>
            <a:r>
              <a:rPr lang="en-US" dirty="0"/>
              <a:t>lower computational complexity </a:t>
            </a:r>
          </a:p>
          <a:p>
            <a:pPr marL="1200150" lvl="2" indent="-285750"/>
            <a:r>
              <a:rPr lang="en-US" dirty="0"/>
              <a:t>efficient handling of equality constraints </a:t>
            </a:r>
          </a:p>
          <a:p>
            <a:pPr marL="1200150" lvl="2" indent="-285750"/>
            <a:r>
              <a:rPr lang="en-US" dirty="0"/>
              <a:t>performance close to the original optimization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B560B3-96A3-15CA-BE45-9A2F964B7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6500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201A4-1443-0937-C305-235D7FEDA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6638C-3508-C4D8-C2CE-74B8BC2A9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Background and Motivation</a:t>
            </a:r>
          </a:p>
          <a:p>
            <a:pPr lvl="1"/>
            <a:r>
              <a:rPr lang="en-US" b="1" dirty="0"/>
              <a:t>Joint MIMO Radar-Communication (</a:t>
            </a:r>
            <a:r>
              <a:rPr lang="en-US" b="1" dirty="0" err="1"/>
              <a:t>RadCom</a:t>
            </a:r>
            <a:r>
              <a:rPr lang="en-US" b="1" dirty="0"/>
              <a:t>)</a:t>
            </a:r>
            <a:endParaRPr lang="en-US" dirty="0"/>
          </a:p>
          <a:p>
            <a:pPr lvl="2"/>
            <a:r>
              <a:rPr lang="en-US" dirty="0"/>
              <a:t>Wireless spectrum is becoming scarce, while both </a:t>
            </a:r>
            <a:r>
              <a:rPr lang="en-US" b="1" dirty="0"/>
              <a:t>radar</a:t>
            </a:r>
            <a:r>
              <a:rPr lang="en-US" dirty="0"/>
              <a:t> and </a:t>
            </a:r>
            <a:r>
              <a:rPr lang="en-US" b="1" dirty="0"/>
              <a:t>communication</a:t>
            </a:r>
            <a:r>
              <a:rPr lang="en-US" dirty="0"/>
              <a:t> systems need valuable frequency bands. </a:t>
            </a:r>
          </a:p>
          <a:p>
            <a:pPr lvl="2"/>
            <a:r>
              <a:rPr lang="en-US" dirty="0"/>
              <a:t>A promising solution is a </a:t>
            </a:r>
            <a:r>
              <a:rPr lang="en-US" b="1" dirty="0"/>
              <a:t>dual-functional platform</a:t>
            </a:r>
            <a:r>
              <a:rPr lang="en-US" dirty="0"/>
              <a:t> that can perform: </a:t>
            </a:r>
          </a:p>
          <a:p>
            <a:pPr lvl="3"/>
            <a:r>
              <a:rPr lang="en-US" b="1" dirty="0"/>
              <a:t>target sensing/detection</a:t>
            </a:r>
            <a:r>
              <a:rPr lang="en-US" dirty="0"/>
              <a:t> </a:t>
            </a:r>
          </a:p>
          <a:p>
            <a:pPr lvl="3"/>
            <a:r>
              <a:rPr lang="en-US" b="1" dirty="0"/>
              <a:t>downlink communication</a:t>
            </a:r>
            <a:br>
              <a:rPr lang="en-US" dirty="0"/>
            </a:br>
            <a:r>
              <a:rPr lang="en-US" dirty="0"/>
              <a:t>at the same time. </a:t>
            </a:r>
          </a:p>
          <a:p>
            <a:pPr lvl="2"/>
            <a:r>
              <a:rPr lang="en-US" dirty="0"/>
              <a:t>This paper studies a </a:t>
            </a:r>
            <a:r>
              <a:rPr lang="en-US" b="1" dirty="0"/>
              <a:t>joint MIMO </a:t>
            </a:r>
            <a:r>
              <a:rPr lang="en-US" b="1" dirty="0" err="1"/>
              <a:t>RadCom</a:t>
            </a:r>
            <a:r>
              <a:rPr lang="en-US" b="1" dirty="0"/>
              <a:t> system</a:t>
            </a:r>
            <a:r>
              <a:rPr lang="en-US" dirty="0"/>
              <a:t>, where a single device acts as: </a:t>
            </a:r>
          </a:p>
          <a:p>
            <a:pPr lvl="3"/>
            <a:r>
              <a:rPr lang="en-US" dirty="0"/>
              <a:t>a </a:t>
            </a:r>
            <a:r>
              <a:rPr lang="en-US" b="1" dirty="0"/>
              <a:t>radar</a:t>
            </a:r>
            <a:r>
              <a:rPr lang="en-US" dirty="0"/>
              <a:t> </a:t>
            </a:r>
          </a:p>
          <a:p>
            <a:pPr lvl="3"/>
            <a:r>
              <a:rPr lang="en-US" dirty="0"/>
              <a:t>a </a:t>
            </a:r>
            <a:r>
              <a:rPr lang="en-US" b="1" dirty="0"/>
              <a:t>communication base station (BS)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Main objective: design beamforming so that the system can </a:t>
            </a:r>
          </a:p>
          <a:p>
            <a:pPr lvl="3"/>
            <a:r>
              <a:rPr lang="en-US" dirty="0"/>
              <a:t>form a desired </a:t>
            </a:r>
            <a:r>
              <a:rPr lang="en-US" b="1" dirty="0"/>
              <a:t>radar beampattern</a:t>
            </a:r>
            <a:r>
              <a:rPr lang="en-US" dirty="0"/>
              <a:t> </a:t>
            </a:r>
          </a:p>
          <a:p>
            <a:pPr lvl="3"/>
            <a:r>
              <a:rPr lang="en-US" dirty="0"/>
              <a:t>satisfy user </a:t>
            </a:r>
            <a:r>
              <a:rPr lang="en-US" b="1" dirty="0"/>
              <a:t>SINR requirements</a:t>
            </a:r>
            <a:r>
              <a:rPr lang="en-US" dirty="0"/>
              <a:t> </a:t>
            </a:r>
          </a:p>
          <a:p>
            <a:pPr lvl="3"/>
            <a:r>
              <a:rPr lang="en-US" dirty="0"/>
              <a:t>stay within the </a:t>
            </a:r>
            <a:r>
              <a:rPr lang="en-US" b="1" dirty="0"/>
              <a:t>power budget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147DF3-B91E-D051-9CF3-3659A2E43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1564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54059-9023-2F14-F3EE-A88288A7B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70954-DEF9-B6A6-9905-0A5C4E40E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Background and Motivation</a:t>
            </a:r>
          </a:p>
          <a:p>
            <a:pPr lvl="1"/>
            <a:r>
              <a:rPr lang="en-US" dirty="0"/>
              <a:t>Wireless spectrum is becoming scarce, while both </a:t>
            </a:r>
            <a:r>
              <a:rPr lang="en-US" b="1" dirty="0"/>
              <a:t>radar</a:t>
            </a:r>
            <a:r>
              <a:rPr lang="en-US" dirty="0"/>
              <a:t> and </a:t>
            </a:r>
            <a:r>
              <a:rPr lang="en-US" b="1" dirty="0"/>
              <a:t>communication</a:t>
            </a:r>
            <a:r>
              <a:rPr lang="en-US" dirty="0"/>
              <a:t> systems need    valuable frequency bands. </a:t>
            </a:r>
          </a:p>
          <a:p>
            <a:pPr lvl="1"/>
            <a:r>
              <a:rPr lang="en-US" dirty="0"/>
              <a:t>A promising solution is a </a:t>
            </a:r>
            <a:r>
              <a:rPr lang="en-US" b="1" dirty="0"/>
              <a:t>dual-functional platform</a:t>
            </a:r>
            <a:r>
              <a:rPr lang="en-US" dirty="0"/>
              <a:t> that can perform: </a:t>
            </a:r>
          </a:p>
          <a:p>
            <a:pPr lvl="2"/>
            <a:r>
              <a:rPr lang="en-US" b="1" dirty="0"/>
              <a:t>target sensing/detection</a:t>
            </a:r>
            <a:r>
              <a:rPr lang="en-US" dirty="0"/>
              <a:t> </a:t>
            </a:r>
          </a:p>
          <a:p>
            <a:pPr lvl="2"/>
            <a:r>
              <a:rPr lang="en-US" b="1" dirty="0"/>
              <a:t>downlink communication</a:t>
            </a:r>
            <a:br>
              <a:rPr lang="en-US" dirty="0"/>
            </a:br>
            <a:r>
              <a:rPr lang="en-US" dirty="0"/>
              <a:t>at the same time. </a:t>
            </a:r>
          </a:p>
          <a:p>
            <a:pPr lvl="1"/>
            <a:r>
              <a:rPr lang="en-US" dirty="0"/>
              <a:t>This paper studies a </a:t>
            </a:r>
            <a:r>
              <a:rPr lang="en-US" b="1" dirty="0"/>
              <a:t>joint MIMO </a:t>
            </a:r>
            <a:r>
              <a:rPr lang="en-US" b="1" dirty="0" err="1"/>
              <a:t>RadCom</a:t>
            </a:r>
            <a:r>
              <a:rPr lang="en-US" b="1" dirty="0"/>
              <a:t> system</a:t>
            </a:r>
            <a:r>
              <a:rPr lang="en-US" dirty="0"/>
              <a:t>, where a single device acts as: </a:t>
            </a:r>
          </a:p>
          <a:p>
            <a:pPr lvl="2"/>
            <a:r>
              <a:rPr lang="en-US" dirty="0"/>
              <a:t>a </a:t>
            </a:r>
            <a:r>
              <a:rPr lang="en-US" b="1" dirty="0"/>
              <a:t>radar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a </a:t>
            </a:r>
            <a:r>
              <a:rPr lang="en-US" b="1" dirty="0"/>
              <a:t>communication base station (BS)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Main objective: design beamforming so that the system can </a:t>
            </a:r>
          </a:p>
          <a:p>
            <a:pPr lvl="2"/>
            <a:r>
              <a:rPr lang="en-US" dirty="0"/>
              <a:t>form a desired </a:t>
            </a:r>
            <a:r>
              <a:rPr lang="en-US" b="1" dirty="0"/>
              <a:t>radar beampattern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satisfy user </a:t>
            </a:r>
            <a:r>
              <a:rPr lang="en-US" b="1" dirty="0"/>
              <a:t>SINR requirements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stay within the </a:t>
            </a:r>
            <a:r>
              <a:rPr lang="en-US" b="1" dirty="0"/>
              <a:t>power budget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C681B-279E-5EBD-048C-5393C4CAD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507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6FDD9-EB72-6D04-7D77-9C8BDB7DA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20162-EA31-8197-0525-AEDBD1AA2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Two Deployment Modes</a:t>
            </a:r>
          </a:p>
          <a:p>
            <a:pPr lvl="1"/>
            <a:r>
              <a:rPr lang="en-US" b="1" dirty="0"/>
              <a:t>Separated vs Shared Deployment</a:t>
            </a:r>
            <a:endParaRPr lang="en-US" dirty="0"/>
          </a:p>
          <a:p>
            <a:pPr lvl="1"/>
            <a:r>
              <a:rPr lang="en-US" dirty="0"/>
              <a:t>The paper considers </a:t>
            </a:r>
            <a:r>
              <a:rPr lang="en-US" b="1" dirty="0"/>
              <a:t>two operational modes</a:t>
            </a:r>
            <a:r>
              <a:rPr lang="en-US" dirty="0"/>
              <a:t>: </a:t>
            </a:r>
          </a:p>
          <a:p>
            <a:pPr lvl="1"/>
            <a:r>
              <a:rPr lang="en-US" b="1" dirty="0"/>
              <a:t>1) Separated Deployment</a:t>
            </a:r>
            <a:endParaRPr lang="en-US" dirty="0"/>
          </a:p>
          <a:p>
            <a:pPr lvl="2"/>
            <a:r>
              <a:rPr lang="en-US" dirty="0"/>
              <a:t>Antennas are split into: </a:t>
            </a:r>
          </a:p>
          <a:p>
            <a:pPr lvl="3"/>
            <a:r>
              <a:rPr lang="en-US" b="1" dirty="0"/>
              <a:t>radar antennas</a:t>
            </a:r>
            <a:r>
              <a:rPr lang="en-US" dirty="0"/>
              <a:t> </a:t>
            </a:r>
          </a:p>
          <a:p>
            <a:pPr lvl="3"/>
            <a:r>
              <a:rPr lang="en-US" b="1" dirty="0"/>
              <a:t>communication antennas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Radar signal is forced into the </a:t>
            </a:r>
            <a:r>
              <a:rPr lang="en-US" b="1" dirty="0"/>
              <a:t>null-space</a:t>
            </a:r>
            <a:r>
              <a:rPr lang="en-US" dirty="0"/>
              <a:t> of downlink channels </a:t>
            </a:r>
          </a:p>
          <a:p>
            <a:pPr lvl="2"/>
            <a:r>
              <a:rPr lang="en-US" dirty="0"/>
              <a:t>Communication beamformer is designed to </a:t>
            </a:r>
            <a:r>
              <a:rPr lang="en-US" b="1" dirty="0"/>
              <a:t>match the radar beampattern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Drawback: extra zero-forcing constraints may reduce performance </a:t>
            </a:r>
          </a:p>
          <a:p>
            <a:pPr lvl="1"/>
            <a:r>
              <a:rPr lang="en-US" b="1" dirty="0"/>
              <a:t>2) Shared Deployment</a:t>
            </a:r>
            <a:endParaRPr lang="en-US" dirty="0"/>
          </a:p>
          <a:p>
            <a:pPr lvl="2"/>
            <a:r>
              <a:rPr lang="en-US" b="1" dirty="0"/>
              <a:t>All antennas</a:t>
            </a:r>
            <a:r>
              <a:rPr lang="en-US" dirty="0"/>
              <a:t> are shared by radar and communication </a:t>
            </a:r>
          </a:p>
          <a:p>
            <a:pPr lvl="2"/>
            <a:r>
              <a:rPr lang="en-US" dirty="0"/>
              <a:t>Communication signals also act as </a:t>
            </a:r>
            <a:r>
              <a:rPr lang="en-US" b="1" dirty="0"/>
              <a:t>radar probing waveforms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Joint design provides more flexibility and usually better performance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BAD1D8-5E0E-FA5E-B906-0102342B9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6358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E6254-1BE1-4DC4-9459-AEDCD3627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DD3AE-2E8B-DB96-2E16-8E3B19071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Key Contribution and Main Result</a:t>
            </a:r>
          </a:p>
          <a:p>
            <a:pPr lvl="1">
              <a:buNone/>
            </a:pPr>
            <a:r>
              <a:rPr lang="en-US" b="1" dirty="0"/>
              <a:t>Bullet points:</a:t>
            </a:r>
            <a:endParaRPr lang="en-US" dirty="0"/>
          </a:p>
          <a:p>
            <a:pPr lvl="1"/>
            <a:r>
              <a:rPr lang="en-US" dirty="0"/>
              <a:t>The paper proposes: </a:t>
            </a:r>
          </a:p>
          <a:p>
            <a:pPr marL="1200150" lvl="2" indent="-285750"/>
            <a:r>
              <a:rPr lang="en-US" b="1" dirty="0"/>
              <a:t>separated deployment</a:t>
            </a:r>
            <a:r>
              <a:rPr lang="en-US" dirty="0"/>
              <a:t> and </a:t>
            </a:r>
            <a:r>
              <a:rPr lang="en-US" b="1" dirty="0"/>
              <a:t>shared deployment</a:t>
            </a:r>
            <a:r>
              <a:rPr lang="en-US" dirty="0"/>
              <a:t> </a:t>
            </a:r>
          </a:p>
          <a:p>
            <a:pPr marL="1200150" lvl="2" indent="-285750"/>
            <a:r>
              <a:rPr lang="en-US" dirty="0"/>
              <a:t>several </a:t>
            </a:r>
            <a:r>
              <a:rPr lang="en-US" b="1" dirty="0"/>
              <a:t>weighted beamforming formulations</a:t>
            </a:r>
            <a:r>
              <a:rPr lang="en-US" dirty="0"/>
              <a:t> </a:t>
            </a:r>
          </a:p>
          <a:p>
            <a:pPr marL="1200150" lvl="2" indent="-285750"/>
            <a:r>
              <a:rPr lang="en-US" b="1" dirty="0"/>
              <a:t>manifold optimization</a:t>
            </a:r>
            <a:r>
              <a:rPr lang="en-US" dirty="0"/>
              <a:t> methods for low-complexity solution </a:t>
            </a:r>
          </a:p>
          <a:p>
            <a:pPr lvl="1"/>
            <a:r>
              <a:rPr lang="en-US" dirty="0"/>
              <a:t>Weighted problems are solved on </a:t>
            </a:r>
            <a:r>
              <a:rPr lang="en-US" b="1" dirty="0"/>
              <a:t>Riemannian manifolds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Manifold solvers achieve: </a:t>
            </a:r>
          </a:p>
          <a:p>
            <a:pPr marL="1200150" lvl="2" indent="-285750"/>
            <a:r>
              <a:rPr lang="en-US" b="1" dirty="0"/>
              <a:t>near-optimal performance</a:t>
            </a:r>
            <a:r>
              <a:rPr lang="en-US" dirty="0"/>
              <a:t> </a:t>
            </a:r>
          </a:p>
          <a:p>
            <a:pPr marL="1200150" lvl="2" indent="-285750"/>
            <a:r>
              <a:rPr lang="en-US" b="1" dirty="0"/>
              <a:t>lower computational complexity</a:t>
            </a:r>
            <a:r>
              <a:rPr lang="en-US" dirty="0"/>
              <a:t> </a:t>
            </a:r>
          </a:p>
          <a:p>
            <a:pPr marL="1200150" lvl="2" indent="-285750"/>
            <a:r>
              <a:rPr lang="en-US" dirty="0"/>
              <a:t>better handling of </a:t>
            </a:r>
            <a:r>
              <a:rPr lang="en-US" b="1" dirty="0"/>
              <a:t>equality constraints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Main result:</a:t>
            </a:r>
            <a:r>
              <a:rPr lang="en-US" dirty="0"/>
              <a:t> </a:t>
            </a:r>
          </a:p>
          <a:p>
            <a:pPr marL="1200150" lvl="2" indent="-285750"/>
            <a:r>
              <a:rPr lang="en-US" b="1" dirty="0"/>
              <a:t>Shared deployment</a:t>
            </a:r>
            <a:r>
              <a:rPr lang="en-US" dirty="0"/>
              <a:t> significantly outperforms separated deployment </a:t>
            </a:r>
          </a:p>
          <a:p>
            <a:pPr marL="1200150" lvl="2" indent="-285750"/>
            <a:r>
              <a:rPr lang="en-US" dirty="0"/>
              <a:t>Weighted manifold-based methods perform similarly to original optimizations, but at much lower        complexity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93C48-68F0-457C-8A7C-A0B5001DF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9166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B0F9D-D69F-4F35-30B0-3AF3AD5E3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2E4158-29FF-0F32-43BB-2A1A86EE50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9690"/>
                <a:ext cx="10515600" cy="5120225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A </a:t>
                </a:r>
                <a:r>
                  <a:rPr lang="en-US" b="1" dirty="0"/>
                  <a:t>joint MIMO radar-communication (</a:t>
                </a:r>
                <a:r>
                  <a:rPr lang="en-US" b="1" dirty="0" err="1"/>
                  <a:t>RadCom</a:t>
                </a:r>
                <a:r>
                  <a:rPr lang="en-US" b="1" dirty="0"/>
                  <a:t>) system</a:t>
                </a:r>
                <a:r>
                  <a:rPr lang="en-US" dirty="0"/>
                  <a:t> is considered. </a:t>
                </a:r>
              </a:p>
              <a:p>
                <a:pPr lvl="1"/>
                <a:r>
                  <a:rPr lang="en-US" dirty="0"/>
                  <a:t>The same platform simultaneously: </a:t>
                </a:r>
              </a:p>
              <a:p>
                <a:pPr marL="1200150" lvl="2" indent="-285750"/>
                <a:r>
                  <a:rPr lang="en-US" dirty="0"/>
                  <a:t>transmits </a:t>
                </a:r>
                <a:r>
                  <a:rPr lang="en-US" b="1" dirty="0"/>
                  <a:t>probing signals</a:t>
                </a:r>
                <a:r>
                  <a:rPr lang="en-US" dirty="0"/>
                  <a:t> toward radar targets </a:t>
                </a:r>
              </a:p>
              <a:p>
                <a:pPr marL="1200150" lvl="2" indent="-285750"/>
                <a:r>
                  <a:rPr lang="en-US" dirty="0"/>
                  <a:t>sends </a:t>
                </a:r>
                <a:r>
                  <a:rPr lang="en-US" b="1" dirty="0"/>
                  <a:t>communication symbols</a:t>
                </a:r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b="1" dirty="0"/>
                  <a:t>downlink users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The transmitter uses a </a:t>
                </a:r>
                <a:r>
                  <a:rPr lang="en-US" b="1" dirty="0"/>
                  <a:t>uniform linear array (ULA)</a:t>
                </a:r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b="1" dirty="0"/>
                  <a:t> antennas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Two deployment modes are studied: </a:t>
                </a:r>
              </a:p>
              <a:p>
                <a:pPr marL="1200150" lvl="2" indent="-285750"/>
                <a:r>
                  <a:rPr lang="en-US" b="1" dirty="0"/>
                  <a:t>Separated deployment</a:t>
                </a:r>
                <a:r>
                  <a:rPr lang="en-US" dirty="0"/>
                  <a:t> </a:t>
                </a:r>
              </a:p>
              <a:p>
                <a:pPr marL="1200150" lvl="2" indent="-285750"/>
                <a:r>
                  <a:rPr lang="en-US" b="1" dirty="0"/>
                  <a:t>Shared deployment</a:t>
                </a:r>
                <a:r>
                  <a:rPr lang="en-US" dirty="0"/>
                  <a:t> </a:t>
                </a:r>
              </a:p>
              <a:p>
                <a:pPr marL="1200150" lvl="2" indent="-285750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lang="ar-A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2E4158-29FF-0F32-43BB-2A1A86EE50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9690"/>
                <a:ext cx="10515600" cy="5120225"/>
              </a:xfrm>
              <a:blipFill>
                <a:blip r:embed="rId2"/>
                <a:stretch>
                  <a:fillRect l="-522" b="-1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0A651-058E-F5AF-9602-B6A5D5357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9EBCE0-DF33-BE2A-4625-866DBDD142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195" y="1602298"/>
            <a:ext cx="4488855" cy="2304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F5E05A-A8DB-29E9-D83F-8010345D2DB8}"/>
              </a:ext>
            </a:extLst>
          </p:cNvPr>
          <p:cNvSpPr txBox="1"/>
          <p:nvPr/>
        </p:nvSpPr>
        <p:spPr>
          <a:xfrm>
            <a:off x="817927" y="3770851"/>
            <a:ext cx="11086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Figure: Antenna deployments for the collocated radar and communications BS. (a) Separated deployment; (b) Shared deployment.</a:t>
            </a:r>
          </a:p>
        </p:txBody>
      </p:sp>
    </p:spTree>
    <p:extLst>
      <p:ext uri="{BB962C8B-B14F-4D97-AF65-F5344CB8AC3E}">
        <p14:creationId xmlns:p14="http://schemas.microsoft.com/office/powerpoint/2010/main" val="1673767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4192A-D518-D9F5-322F-FE273509A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48DF38-CBB7-94CD-9CFF-179350F0BB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Separated Deployment</a:t>
                </a:r>
              </a:p>
              <a:p>
                <a:pPr lvl="1"/>
                <a:r>
                  <a:rPr lang="en-US" dirty="0"/>
                  <a:t>The antenna array is divided into: </a:t>
                </a:r>
              </a:p>
              <a:p>
                <a:pPr marL="1200150" lvl="2" indent="-285750"/>
                <a:r>
                  <a:rPr lang="en-US" b="1" dirty="0"/>
                  <a:t>radar antennas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ar-AE" dirty="0"/>
              </a:p>
              <a:p>
                <a:pPr marL="1200150" lvl="2" indent="-285750"/>
                <a:r>
                  <a:rPr lang="en-US" b="1" dirty="0"/>
                  <a:t>communication antennas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Radar and communication use different antenna groups </a:t>
                </a:r>
              </a:p>
              <a:p>
                <a:pPr lvl="1"/>
                <a:r>
                  <a:rPr lang="en-US" dirty="0"/>
                  <a:t>This deployment allows </a:t>
                </a:r>
                <a:r>
                  <a:rPr lang="en-US" b="1" dirty="0"/>
                  <a:t>arbitrary radar waveform design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However, radar transmission may interfere with communication users </a:t>
                </a:r>
              </a:p>
              <a:p>
                <a:pPr lvl="1"/>
                <a:r>
                  <a:rPr lang="en-US" b="1" dirty="0"/>
                  <a:t>Received signal of user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1"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+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𝐬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endParaRPr lang="en-US" dirty="0"/>
              </a:p>
              <a:p>
                <a:pPr lvl="1">
                  <a:buNone/>
                </a:pPr>
                <a:r>
                  <a:rPr lang="en-US" b="1" dirty="0"/>
                  <a:t>	Where:</a:t>
                </a:r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𝐠</m:t>
                        </m:r>
                      </m:e>
                      <m:sub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b="0" i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0" i="0">
                            <a:latin typeface="Cambria Math" panose="02040503050406030204" pitchFamily="18" charset="0"/>
                          </a:rPr>
                          <m:t>ℂ</m:t>
                        </m:r>
                      </m:e>
                      <m:sup>
                        <m:sSub>
                          <m:sSubPr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r>
                          <a:rPr lang="ar-AE" b="0" i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 b="0" i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ar-AE" dirty="0"/>
                  <a:t>: </a:t>
                </a:r>
                <a:r>
                  <a:rPr lang="en-US" dirty="0"/>
                  <a:t>channel from communication antennas to user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b="0" i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0" i="0">
                            <a:latin typeface="Cambria Math" panose="02040503050406030204" pitchFamily="18" charset="0"/>
                          </a:rPr>
                          <m:t>ℂ</m:t>
                        </m:r>
                      </m:e>
                      <m:sup>
                        <m:sSub>
                          <m:sSubPr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ar-AE" b="0" i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 b="0" i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ar-AE" dirty="0"/>
                  <a:t>: </a:t>
                </a:r>
                <a:r>
                  <a:rPr lang="en-US" dirty="0"/>
                  <a:t>channel from radar antennas to user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 b="0" i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0" i="0">
                            <a:latin typeface="Cambria Math" panose="02040503050406030204" pitchFamily="18" charset="0"/>
                          </a:rPr>
                          <m:t>ℂ</m:t>
                        </m:r>
                      </m:e>
                      <m:sup>
                        <m:sSub>
                          <m:sSubPr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r>
                          <a:rPr lang="ar-AE" b="0" i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 b="0" i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ar-AE" dirty="0"/>
                  <a:t>: </a:t>
                </a:r>
                <a:r>
                  <a:rPr lang="en-US" dirty="0"/>
                  <a:t>beamforming vector for user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</m:oMath>
                </a14:m>
                <a:r>
                  <a:rPr lang="ar-AE" dirty="0"/>
                  <a:t>: </a:t>
                </a:r>
                <a:r>
                  <a:rPr lang="en-US" dirty="0"/>
                  <a:t>communication symbol for user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b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ar-AE" b="0" i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0" i="0">
                            <a:latin typeface="Cambria Math" panose="02040503050406030204" pitchFamily="18" charset="0"/>
                          </a:rPr>
                          <m:t>ℂ</m:t>
                        </m:r>
                      </m:e>
                      <m:sup>
                        <m:sSub>
                          <m:sSubPr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ar-AE" b="0" i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 b="0" i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ar-AE" dirty="0"/>
                  <a:t>: </a:t>
                </a:r>
                <a:r>
                  <a:rPr lang="en-US" dirty="0"/>
                  <a:t>radar signal snapshot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𝒞𝒩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dirty="0"/>
                  <a:t>: </a:t>
                </a:r>
                <a:r>
                  <a:rPr lang="en-US" dirty="0"/>
                  <a:t>noise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48DF38-CBB7-94CD-9CFF-179350F0BB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76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2ED7A5-D72C-ED04-E880-13A1E7FDA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802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D63F0-EFDC-F6C0-9465-7AF732E3C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12710A-A2AF-DE41-4F8C-24C9C5C073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Radar Covariance and Communication Power</a:t>
                </a:r>
              </a:p>
              <a:p>
                <a:pPr lvl="1"/>
                <a:r>
                  <a:rPr lang="en-US" b="1" dirty="0"/>
                  <a:t>Radar signal covariance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𝐬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𝐬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</m:e>
                    </m:nary>
                  </m:oMath>
                </a14:m>
                <a:endParaRPr lang="en-US" dirty="0"/>
              </a:p>
              <a:p>
                <a:pPr lvl="1">
                  <a:buNone/>
                </a:pPr>
                <a:r>
                  <a:rPr lang="en-US" b="0" dirty="0"/>
                  <a:t>	</a:t>
                </a:r>
                <a:endParaRPr lang="ar-AE" b="0" dirty="0"/>
              </a:p>
              <a:p>
                <a:pPr lvl="1"/>
                <a:r>
                  <a:rPr lang="en-US" dirty="0"/>
                  <a:t>where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b="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b="0" i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0" i="0">
                            <a:latin typeface="Cambria Math" panose="02040503050406030204" pitchFamily="18" charset="0"/>
                          </a:rPr>
                          <m:t>ℂ</m:t>
                        </m:r>
                      </m:e>
                      <m:sup>
                        <m:sSub>
                          <m:sSubPr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ar-AE" b="0" i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sup>
                    </m:sSup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ar-AE" dirty="0"/>
                  <a:t>: </a:t>
                </a:r>
                <a:r>
                  <a:rPr lang="en-US" dirty="0"/>
                  <a:t>number of radar snapshots </a:t>
                </a:r>
              </a:p>
              <a:p>
                <a:pPr lvl="1"/>
                <a:r>
                  <a:rPr lang="en-US" b="1" dirty="0"/>
                  <a:t>Communication beamforming matrix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 b="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ar-AE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endParaRPr lang="ar-AE" b="0" dirty="0"/>
              </a:p>
              <a:p>
                <a:pPr lvl="1"/>
                <a:r>
                  <a:rPr lang="en-US" b="1" dirty="0"/>
                  <a:t>Communication transmit power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</m:nary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sSupPr>
                        <m:ctrlPr>
                          <a:rPr lang="ar-AE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0" i="0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 b="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b="0" i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ar-AE" b="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 b="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b="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b="0" i="0">
                            <a:latin typeface="Cambria Math" panose="02040503050406030204" pitchFamily="18" charset="0"/>
                          </a:rPr>
                          <m:t>tr</m:t>
                        </m:r>
                      </m:e>
                    </m:nary>
                    <m:r>
                      <a:rPr lang="ar-AE" b="0" i="0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ar-AE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12710A-A2AF-DE41-4F8C-24C9C5C073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3462BB-47D3-C7E0-4C81-1A5CE58D8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667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C931A-2C87-85B8-6D31-B7B684F7D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24644F-72F6-557D-A29F-243C1C5747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SINR of User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From the received signal model, the SINR of user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∣"/>
                                <m:endChr m:val="∣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 lang="ar-AE" b="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ar-AE" b="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ar-AE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𝐰</m:t>
                                    </m:r>
                                  </m:e>
                                  <m:sub>
                                    <m:r>
                                      <a:rPr lang="ar-AE" b="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grow m:val="on"/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ar-AE" b="0" i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ar-AE" b="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ar-AE" b="0" i="0">
                                      <a:latin typeface="Cambria Math" panose="02040503050406030204" pitchFamily="18" charset="0"/>
                                    </a:rPr>
                                    <m:t>≠</m:t>
                                  </m:r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mr>
                            </m:m>
                          </m:sub>
                          <m:sup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p>
                              <m:sSupPr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∣"/>
                                    <m:endChr m:val="∣"/>
                                    <m:ctrlPr>
                                      <a:rPr lang="ar-AE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ar-AE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ar-AE" b="1" i="0">
                                            <a:latin typeface="Cambria Math" panose="02040503050406030204" pitchFamily="18" charset="0"/>
                                          </a:rPr>
                                          <m:t>𝐠</m:t>
                                        </m:r>
                                      </m:e>
                                      <m:sub>
                                        <m:r>
                                          <a:rPr lang="ar-AE" b="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ar-AE" b="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  <m:sSub>
                                      <m:sSubPr>
                                        <m:ctrlPr>
                                          <a:rPr lang="ar-AE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b="1" i="0">
                                            <a:latin typeface="Cambria Math" panose="02040503050406030204" pitchFamily="18" charset="0"/>
                                          </a:rPr>
                                          <m:t>𝐰</m:t>
                                        </m:r>
                                      </m:e>
                                      <m:sub>
                                        <m:r>
                                          <a:rPr lang="ar-AE" b="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  <m:r>
                          <a:rPr lang="ar-AE" b="0" i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𝐟</m:t>
                            </m:r>
                          </m:e>
                          <m:sub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𝐟</m:t>
                            </m:r>
                          </m:e>
                          <m:sub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ar-AE" b="0" i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ar-AE" b="0" dirty="0"/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∣"/>
                            <m:endChr m:val="∣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 lang="ar-AE" b="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ar-AE" b="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ar-AE" b="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ar-AE" b="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dirty="0"/>
                      <m:t>desired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signal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power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</m:m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∣"/>
                                <m:endChr m:val="∣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 lang="ar-AE" b="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ar-AE" b="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ar-AE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𝐰</m:t>
                                    </m:r>
                                  </m:e>
                                  <m:sub>
                                    <m:r>
                                      <a:rPr lang="ar-AE" b="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dirty="0"/>
                      <m:t>multi</m:t>
                    </m:r>
                    <m:r>
                      <m:rPr>
                        <m:nor/>
                      </m:rPr>
                      <a:rPr lang="en-US" dirty="0"/>
                      <m:t>−</m:t>
                    </m:r>
                    <m:r>
                      <m:rPr>
                        <m:nor/>
                      </m:rPr>
                      <a:rPr lang="en-US" dirty="0"/>
                      <m:t>user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interference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b="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ar-AE" b="0" i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1" i="0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dirty="0"/>
                  <a:t>radar interference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dirty="0"/>
                  <a:t>noise power</a:t>
                </a:r>
              </a:p>
              <a:p>
                <a:pPr lvl="2"/>
                <a:r>
                  <a:rPr lang="en-US" b="1" dirty="0"/>
                  <a:t>Equivalent trace form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ar-AE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</a:rPr>
                              <m:t>tr</m:t>
                            </m:r>
                          </m:fName>
                          <m:e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ar-AE" b="1"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ar-AE" b="1"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>
                                        <a:latin typeface="Cambria Math" panose="02040503050406030204" pitchFamily="18" charset="0"/>
                                      </a:rPr>
                                      <m:t>𝐖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>
                                <a:latin typeface="Cambria Math" panose="02040503050406030204" pitchFamily="18" charset="0"/>
                              </a:rPr>
                              <m:t>tr</m:t>
                            </m:r>
                          </m:fName>
                          <m:e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ar-AE" b="1"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ar-AE" b="1"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nary>
                                  <m:naryPr>
                                    <m:chr m:val="∑"/>
                                    <m:grow m:val="on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ar-AE">
                                              <a:latin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r>
                                            <a:rPr lang="ar-AE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ar-AE">
                                              <a:latin typeface="Cambria Math" panose="02040503050406030204" pitchFamily="18" charset="0"/>
                                            </a:rPr>
                                            <m:t>≠</m:t>
                                          </m:r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mr>
                                    </m:m>
                                  </m:sub>
                                  <m:sup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b="1">
                                            <a:latin typeface="Cambria Math" panose="02040503050406030204" pitchFamily="18" charset="0"/>
                                          </a:rPr>
                                          <m:t>𝐖</m:t>
                                        </m:r>
                                      </m:e>
                                      <m:sub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d>
                          </m:e>
                        </m:func>
                        <m:r>
                          <a:rPr lang="ar-AE" b="0" i="0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>
                                <a:latin typeface="Cambria Math" panose="02040503050406030204" pitchFamily="18" charset="0"/>
                              </a:rPr>
                              <m:t>tr</m:t>
                            </m:r>
                          </m:fName>
                          <m:e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ar-AE" b="1">
                                        <a:latin typeface="Cambria Math" panose="02040503050406030204" pitchFamily="18" charset="0"/>
                                      </a:rPr>
                                      <m:t>𝐟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ar-AE" b="1">
                                        <a:latin typeface="Cambria Math" panose="02040503050406030204" pitchFamily="18" charset="0"/>
                                      </a:rPr>
                                      <m:t>𝐟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>
                                        <a:latin typeface="Cambria Math" panose="02040503050406030204" pitchFamily="18" charset="0"/>
                                      </a:rPr>
                                      <m:t>𝐑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  <m:r>
                          <a:rPr lang="ar-AE" b="0" i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ar-AE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24644F-72F6-557D-A29F-243C1C5747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8FC0A8-9E2A-47BC-E9DD-6ED54F5D9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8069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3BA76-EE4C-4CA3-C7BA-78C6A1A63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A6E692-E7E8-7307-91BD-6E6ABB0D19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Communication Covariance and Assumptions</a:t>
                </a:r>
              </a:p>
              <a:p>
                <a:pPr lvl="1"/>
                <a:r>
                  <a:rPr lang="en-US" b="1" dirty="0"/>
                  <a:t>Communication covariance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𝐂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endParaRPr lang="ar-AE" b="0" dirty="0"/>
              </a:p>
              <a:p>
                <a:pPr lvl="1"/>
                <a:r>
                  <a:rPr lang="en-US" b="1" dirty="0"/>
                  <a:t>Assumptions</a:t>
                </a:r>
              </a:p>
              <a:p>
                <a:pPr lvl="2"/>
                <a:r>
                  <a:rPr lang="en-US" dirty="0"/>
                  <a:t>Communication signals are </a:t>
                </a:r>
                <a:r>
                  <a:rPr lang="en-US" b="1" dirty="0"/>
                  <a:t>statistically independent</a:t>
                </a:r>
                <a:r>
                  <a:rPr lang="en-US" dirty="0"/>
                  <a:t> of radar signals </a:t>
                </a:r>
              </a:p>
              <a:p>
                <a:pPr lvl="2"/>
                <a:r>
                  <a:rPr lang="en-US" dirty="0"/>
                  <a:t>The channel is </a:t>
                </a:r>
                <a:r>
                  <a:rPr lang="en-US" b="1" dirty="0"/>
                  <a:t>flat Rayleigh fading</a:t>
                </a:r>
                <a:r>
                  <a:rPr lang="en-US" dirty="0"/>
                  <a:t> </a:t>
                </a:r>
              </a:p>
              <a:p>
                <a:pPr lvl="2"/>
                <a:r>
                  <a:rPr lang="en-US" dirty="0"/>
                  <a:t>The user channel matrix is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𝐇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e>
                    </m:d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where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1">
                                      <a:latin typeface="Cambria Math" panose="02040503050406030204" pitchFamily="18" charset="0"/>
                                    </a:rPr>
                                    <m:t>𝐟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1">
                                      <a:latin typeface="Cambria Math" panose="02040503050406030204" pitchFamily="18" charset="0"/>
                                    </a:rPr>
                                    <m:t>𝐠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ℂ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Perfect CSI is assumed via pilot estimation </a:t>
                </a:r>
                <a:endParaRPr lang="en-US" b="1" dirty="0"/>
              </a:p>
              <a:p>
                <a:pPr lvl="1"/>
                <a:r>
                  <a:rPr lang="en-US" dirty="0"/>
                  <a:t>Separated deployment gives </a:t>
                </a:r>
                <a:r>
                  <a:rPr lang="en-US" b="1" dirty="0"/>
                  <a:t>flexibility in radar waveform design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But introduces </a:t>
                </a:r>
                <a:r>
                  <a:rPr lang="en-US" b="1" dirty="0"/>
                  <a:t>radar-to-user interference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This motivates later </a:t>
                </a:r>
                <a:r>
                  <a:rPr lang="en-US" b="1" dirty="0"/>
                  <a:t>zero-forcing / null-space beamforming design</a:t>
                </a:r>
                <a:r>
                  <a:rPr lang="en-US" dirty="0"/>
                  <a:t>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A6E692-E7E8-7307-91BD-6E6ABB0D19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A89677-EE8C-E763-44F4-225042B6E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0088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55589-F6B5-402C-8D9F-BC8E79100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12A1CE-BE37-706E-7400-66B5CDB86D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Shared Deployment</a:t>
                </a:r>
              </a:p>
              <a:p>
                <a:pPr lvl="1"/>
                <a:r>
                  <a:rPr lang="en-US" dirty="0"/>
                  <a:t>In the </a:t>
                </a:r>
                <a:r>
                  <a:rPr lang="en-US" b="1" dirty="0"/>
                  <a:t>shared deployment</a:t>
                </a:r>
                <a:r>
                  <a:rPr lang="en-US" dirty="0"/>
                  <a:t>, all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antennas are used jointly for: </a:t>
                </a:r>
              </a:p>
              <a:p>
                <a:pPr lvl="2"/>
                <a:r>
                  <a:rPr lang="en-US" b="1" dirty="0"/>
                  <a:t>radar detection</a:t>
                </a:r>
                <a:r>
                  <a:rPr lang="en-US" dirty="0"/>
                  <a:t> </a:t>
                </a:r>
              </a:p>
              <a:p>
                <a:pPr lvl="2"/>
                <a:r>
                  <a:rPr lang="en-US" b="1" dirty="0"/>
                  <a:t>downlink communication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The communication signal itself is used as the </a:t>
                </a:r>
                <a:r>
                  <a:rPr lang="en-US" b="1" dirty="0"/>
                  <a:t>radar probing waveform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Therefore, all antennas contribute to both functions </a:t>
                </a:r>
              </a:p>
              <a:p>
                <a:pPr lvl="1"/>
                <a:r>
                  <a:rPr lang="en-US" b="1" dirty="0"/>
                  <a:t>Received signal of user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1" dirty="0"/>
                  <a:t>:</a:t>
                </a:r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𝐭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ar-AE" b="0" dirty="0"/>
              </a:p>
              <a:p>
                <a:pPr lvl="1"/>
                <a:r>
                  <a:rPr lang="en-US" b="1" dirty="0"/>
                  <a:t>Where:</a:t>
                </a:r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ℂ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ar-AE" dirty="0"/>
                  <a:t>: </a:t>
                </a:r>
                <a:r>
                  <a:rPr lang="en-US" dirty="0"/>
                  <a:t> channel from the full antenna array to user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𝐭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ℂ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ar-AE" dirty="0"/>
                  <a:t>: </a:t>
                </a:r>
                <a:r>
                  <a:rPr lang="en-US" dirty="0"/>
                  <a:t> beamforming vector for user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</m:oMath>
                </a14:m>
                <a:r>
                  <a:rPr lang="ar-AE" dirty="0"/>
                  <a:t>: </a:t>
                </a:r>
                <a:r>
                  <a:rPr lang="en-US" dirty="0"/>
                  <a:t> communication symbol of user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ar-AE" dirty="0"/>
                  <a:t>: </a:t>
                </a:r>
                <a:r>
                  <a:rPr lang="en-US" dirty="0"/>
                  <a:t> noise at user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</a:t>
                </a:r>
                <a:r>
                  <a:rPr lang="en-US" dirty="0" err="1"/>
                  <a:t>RadCom</a:t>
                </a:r>
                <a:r>
                  <a:rPr lang="en-US" dirty="0"/>
                  <a:t> system uses the </a:t>
                </a:r>
                <a:r>
                  <a:rPr lang="en-US" b="1" dirty="0"/>
                  <a:t>communication signal as the radar waveform</a:t>
                </a:r>
                <a:r>
                  <a:rPr lang="en-US" dirty="0"/>
                  <a:t>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12A1CE-BE37-706E-7400-66B5CDB86D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79DF4-9991-D2BF-4622-032C779CC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1" y="6356350"/>
            <a:ext cx="436926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58925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3D147-5C9D-572C-43F1-847635DF1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CCF332-5A2C-3E55-C5BF-CDAB2F844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Key Assumptions and Interpretation</a:t>
                </a:r>
              </a:p>
              <a:p>
                <a:pPr lvl="1"/>
                <a:r>
                  <a:rPr lang="en-US" dirty="0"/>
                  <a:t>The shared deployment assumes: </a:t>
                </a:r>
              </a:p>
              <a:p>
                <a:pPr lvl="2"/>
                <a:r>
                  <a:rPr lang="en-US" dirty="0"/>
                  <a:t>The communication waveform is also the radar probing waveform </a:t>
                </a:r>
              </a:p>
              <a:p>
                <a:pPr lvl="2"/>
                <a:r>
                  <a:rPr lang="en-US" dirty="0"/>
                  <a:t>The user channel matrix is </a:t>
                </a:r>
                <a:r>
                  <a:rPr lang="en-US" b="1" dirty="0"/>
                  <a:t>Rayleigh flat fading</a:t>
                </a:r>
                <a:r>
                  <a:rPr lang="en-US" dirty="0"/>
                  <a:t> </a:t>
                </a:r>
              </a:p>
              <a:p>
                <a:pPr lvl="2"/>
                <a:r>
                  <a:rPr lang="en-US" dirty="0"/>
                  <a:t>The channel is </a:t>
                </a:r>
                <a:r>
                  <a:rPr lang="en-US" b="1" dirty="0"/>
                  <a:t>perfectly estimated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b="1" dirty="0"/>
                  <a:t>Channel matrix:</a:t>
                </a:r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𝐇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,….. 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At first glance, it seems there is </a:t>
                </a:r>
                <a:r>
                  <a:rPr lang="en-US" b="1" dirty="0"/>
                  <a:t>no extra degree of freedom</a:t>
                </a:r>
                <a:r>
                  <a:rPr lang="en-US" dirty="0"/>
                  <a:t> for radar waveform design </a:t>
                </a:r>
              </a:p>
              <a:p>
                <a:pPr lvl="2"/>
                <a:r>
                  <a:rPr lang="en-US" dirty="0"/>
                  <a:t>Because the communication signal is already fixed as the dual-functional waveform </a:t>
                </a:r>
              </a:p>
              <a:p>
                <a:pPr lvl="2"/>
                <a:r>
                  <a:rPr lang="en-US" dirty="0"/>
                  <a:t>However, the paper later shows that this limitation is acceptable and still gives strong performance </a:t>
                </a:r>
              </a:p>
              <a:p>
                <a:pPr lvl="1"/>
                <a:r>
                  <a:rPr lang="en-US" dirty="0"/>
                  <a:t>Shared deployment removes explicit radar interference to users </a:t>
                </a:r>
              </a:p>
              <a:p>
                <a:pPr lvl="1"/>
                <a:r>
                  <a:rPr lang="en-US" dirty="0"/>
                  <a:t>But tightly couples radar and communication beamforming design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CCF332-5A2C-3E55-C5BF-CDAB2F844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107F9C-E4BF-D605-75C9-BABED13FD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7613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A0049-FA1C-F8C8-00B5-37415F3EA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E21AA4-D042-6CE7-F386-730A8E70AE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Title:</a:t>
                </a:r>
                <a:r>
                  <a:rPr lang="en-US" dirty="0"/>
                  <a:t> Power and SINR in Shared Deployment</a:t>
                </a:r>
              </a:p>
              <a:p>
                <a:pPr lvl="1"/>
                <a:r>
                  <a:rPr lang="en-US" b="1" dirty="0"/>
                  <a:t>Beamforming covariance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𝐓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𝐭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𝐭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endParaRPr lang="ar-AE" b="0" dirty="0"/>
              </a:p>
              <a:p>
                <a:pPr lvl="1"/>
                <a:r>
                  <a:rPr lang="en-US" b="1" dirty="0"/>
                  <a:t>Transmit power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</m:nary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𝐭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𝐓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ar-AE" b="0" dirty="0"/>
              </a:p>
              <a:p>
                <a:pPr lvl="1"/>
                <a:r>
                  <a:rPr lang="en-US" b="1" dirty="0"/>
                  <a:t>Received SINR of user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b="1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∣"/>
                                <m:endChr m:val="∣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ar-AE" b="1">
                                        <a:latin typeface="Cambria Math" panose="02040503050406030204" pitchFamily="18" charset="0"/>
                                      </a:rPr>
                                      <m:t>𝐡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≠</m:t>
                                  </m:r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mr>
                            </m:m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∣"/>
                                    <m:endChr m:val="∣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ar-AE" b="1">
                                            <a:latin typeface="Cambria Math" panose="02040503050406030204" pitchFamily="18" charset="0"/>
                                          </a:rPr>
                                          <m:t>𝐡</m:t>
                                        </m:r>
                                      </m:e>
                                      <m:sub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b="1">
                                            <a:latin typeface="Cambria Math" panose="02040503050406030204" pitchFamily="18" charset="0"/>
                                          </a:rPr>
                                          <m:t>𝐭</m:t>
                                        </m:r>
                                      </m:e>
                                      <m:sub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ar-AE" b="0" dirty="0"/>
              </a:p>
              <a:p>
                <a:pPr lvl="1"/>
                <a:r>
                  <a:rPr lang="en-US" b="1" dirty="0"/>
                  <a:t>Equivalent trace form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tr</m:t>
                            </m:r>
                          </m:fName>
                          <m:e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ar-AE" b="1">
                                        <a:latin typeface="Cambria Math" panose="02040503050406030204" pitchFamily="18" charset="0"/>
                                      </a:rPr>
                                      <m:t>𝐡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ar-AE" b="1">
                                        <a:latin typeface="Cambria Math" panose="02040503050406030204" pitchFamily="18" charset="0"/>
                                      </a:rPr>
                                      <m:t>𝐡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>
                                        <a:latin typeface="Cambria Math" panose="02040503050406030204" pitchFamily="18" charset="0"/>
                                      </a:rPr>
                                      <m:t>𝐓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num>
                      <m:den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tr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≠</m:t>
                                  </m:r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mr>
                            </m:m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𝐓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There is </a:t>
                </a:r>
                <a:r>
                  <a:rPr lang="en-US" b="1" dirty="0"/>
                  <a:t>no radar interference term</a:t>
                </a:r>
                <a:r>
                  <a:rPr lang="en-US" dirty="0"/>
                  <a:t> in the denominator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E21AA4-D042-6CE7-F386-730A8E70AE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526D63-A8F1-9343-A894-DBDF43F37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53717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43B13-5934-4D2F-92DA-1F4E2E7C4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02FCBD-ECB4-5A7C-4243-3B2B715A0B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Covariance Matrix and Main Insight</a:t>
                </a:r>
              </a:p>
              <a:p>
                <a:pPr lvl="1"/>
                <a:r>
                  <a:rPr lang="en-US" b="1" dirty="0"/>
                  <a:t>Covariance of the preceded symbols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𝐂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𝐓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endParaRPr lang="ar-AE" b="0" dirty="0"/>
              </a:p>
              <a:p>
                <a:pPr lvl="1"/>
                <a:r>
                  <a:rPr lang="en-US" b="1" dirty="0"/>
                  <a:t>Interpretation:</a:t>
                </a:r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𝐂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is the total transmitting covariance matrix </a:t>
                </a:r>
              </a:p>
              <a:p>
                <a:pPr lvl="1"/>
                <a:r>
                  <a:rPr lang="en-US" dirty="0"/>
                  <a:t>In shared deployment, this same covariance supports: </a:t>
                </a:r>
              </a:p>
              <a:p>
                <a:pPr lvl="2"/>
                <a:r>
                  <a:rPr lang="en-US" b="1" dirty="0"/>
                  <a:t>communication beamforming</a:t>
                </a:r>
                <a:r>
                  <a:rPr lang="en-US" dirty="0"/>
                  <a:t> </a:t>
                </a:r>
              </a:p>
              <a:p>
                <a:pPr lvl="2"/>
                <a:r>
                  <a:rPr lang="en-US" b="1" dirty="0"/>
                  <a:t>radar beampattern generation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b="1" dirty="0"/>
                  <a:t>Key takeaway</a:t>
                </a:r>
              </a:p>
              <a:p>
                <a:pPr lvl="2"/>
                <a:r>
                  <a:rPr lang="en-US" b="1" dirty="0"/>
                  <a:t>Separated deployment</a:t>
                </a:r>
                <a:r>
                  <a:rPr lang="en-US" dirty="0"/>
                  <a:t>: </a:t>
                </a:r>
              </a:p>
              <a:p>
                <a:pPr lvl="3"/>
                <a:r>
                  <a:rPr lang="en-US" dirty="0"/>
                  <a:t>more freedom in radar waveform design </a:t>
                </a:r>
              </a:p>
              <a:p>
                <a:pPr lvl="3"/>
                <a:r>
                  <a:rPr lang="en-US" dirty="0"/>
                  <a:t>radar interference must be controlled </a:t>
                </a:r>
              </a:p>
              <a:p>
                <a:pPr lvl="2"/>
                <a:r>
                  <a:rPr lang="en-US" dirty="0"/>
                  <a:t>All antennas are jointly used </a:t>
                </a:r>
              </a:p>
              <a:p>
                <a:pPr lvl="2"/>
                <a:r>
                  <a:rPr lang="en-US" dirty="0"/>
                  <a:t>No explicit radar interference in user SINR </a:t>
                </a:r>
              </a:p>
              <a:p>
                <a:pPr lvl="2"/>
                <a:r>
                  <a:rPr lang="en-US" dirty="0"/>
                  <a:t>More integrated but more tightly coupled design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02FCBD-ECB4-5A7C-4243-3B2B715A0B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0B5505-E28C-8233-6ED0-232063E98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2666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ED983-BFF5-70C4-13A9-3BF1CA8E1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944CF-8DD3-A095-E52C-7E98661D3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Problem Formulation</a:t>
            </a:r>
          </a:p>
          <a:p>
            <a:pPr lvl="1"/>
            <a:r>
              <a:rPr lang="en-US" dirty="0"/>
              <a:t>Problem Formulation</a:t>
            </a:r>
          </a:p>
          <a:p>
            <a:pPr lvl="1"/>
            <a:r>
              <a:rPr lang="en-US" dirty="0"/>
              <a:t>The beamformer must satisfy three requirements:</a:t>
            </a:r>
          </a:p>
          <a:p>
            <a:pPr lvl="2"/>
            <a:r>
              <a:rPr lang="en-US" b="1" dirty="0"/>
              <a:t>Radar requirement:</a:t>
            </a:r>
            <a:r>
              <a:rPr lang="en-US" dirty="0"/>
              <a:t> generate a beampattern close to the desired one </a:t>
            </a:r>
          </a:p>
          <a:p>
            <a:pPr lvl="2"/>
            <a:r>
              <a:rPr lang="en-US" b="1" dirty="0"/>
              <a:t>Communication requirement:</a:t>
            </a:r>
            <a:r>
              <a:rPr lang="en-US" dirty="0"/>
              <a:t> satisfy the required user SINR levels </a:t>
            </a:r>
          </a:p>
          <a:p>
            <a:pPr lvl="2"/>
            <a:r>
              <a:rPr lang="en-US" b="1" dirty="0"/>
              <a:t>Power requirement:</a:t>
            </a:r>
            <a:r>
              <a:rPr lang="en-US" dirty="0"/>
              <a:t> remain within the transmit power budget </a:t>
            </a:r>
          </a:p>
          <a:p>
            <a:pPr lvl="1"/>
            <a:r>
              <a:rPr lang="en-US" b="1" dirty="0"/>
              <a:t>Key statement:</a:t>
            </a:r>
            <a:endParaRPr lang="en-US" dirty="0"/>
          </a:p>
          <a:p>
            <a:pPr lvl="2"/>
            <a:r>
              <a:rPr lang="en-US" dirty="0"/>
              <a:t>The paper first recalls </a:t>
            </a:r>
            <a:r>
              <a:rPr lang="en-US" b="1" dirty="0"/>
              <a:t>radar-only beampattern design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Then it combines radar design with </a:t>
            </a:r>
            <a:r>
              <a:rPr lang="en-US" b="1" dirty="0"/>
              <a:t>communication constraints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The goal is to obtain a beamformer that supports </a:t>
            </a:r>
            <a:r>
              <a:rPr lang="en-US" b="1" dirty="0"/>
              <a:t>both sensing and communication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Important note:</a:t>
            </a:r>
            <a:endParaRPr lang="en-US" dirty="0"/>
          </a:p>
          <a:p>
            <a:pPr lvl="2"/>
            <a:r>
              <a:rPr lang="en-US" dirty="0"/>
              <a:t>Low </a:t>
            </a:r>
            <a:r>
              <a:rPr lang="en-US" b="1" dirty="0"/>
              <a:t>PAPR</a:t>
            </a:r>
            <a:r>
              <a:rPr lang="en-US" dirty="0"/>
              <a:t> is important in practical radar waveform design </a:t>
            </a:r>
          </a:p>
          <a:p>
            <a:pPr lvl="2"/>
            <a:r>
              <a:rPr lang="en-US" dirty="0"/>
              <a:t>But this paper does </a:t>
            </a:r>
            <a:r>
              <a:rPr lang="en-US" b="1" dirty="0"/>
              <a:t>not</a:t>
            </a:r>
            <a:r>
              <a:rPr lang="en-US" dirty="0"/>
              <a:t> optimize PAPR </a:t>
            </a:r>
          </a:p>
          <a:p>
            <a:pPr lvl="2"/>
            <a:r>
              <a:rPr lang="en-US" dirty="0"/>
              <a:t>Reason: the approach is </a:t>
            </a:r>
            <a:r>
              <a:rPr lang="en-US" b="1" dirty="0"/>
              <a:t>beamforming-level</a:t>
            </a:r>
            <a:r>
              <a:rPr lang="en-US" dirty="0"/>
              <a:t>, not </a:t>
            </a:r>
            <a:r>
              <a:rPr lang="en-US" b="1" dirty="0"/>
              <a:t>symbol-level/waveform-level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C6A4C-0357-ABB0-325F-40F5B5076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04647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1E4BE-BD99-52EA-CB8D-63343F8F0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7DD0CF-2855-9E5A-81D4-E13CBFCB57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MIMO Radar Beampattern Design</a:t>
                </a:r>
              </a:p>
              <a:p>
                <a:pPr lvl="1"/>
                <a:r>
                  <a:rPr lang="en-US" dirty="0"/>
                  <a:t>MIMO radar with </a:t>
                </a:r>
                <a:r>
                  <a:rPr lang="en-US" b="1" dirty="0"/>
                  <a:t>uncorrelated waveforms</a:t>
                </a:r>
                <a:r>
                  <a:rPr lang="en-US" dirty="0"/>
                  <a:t> offers more </a:t>
                </a:r>
                <a:r>
                  <a:rPr lang="en-US" b="1" dirty="0"/>
                  <a:t>degrees of freedom (</a:t>
                </a:r>
                <a:r>
                  <a:rPr lang="en-US" b="1" dirty="0" err="1"/>
                  <a:t>DoFs</a:t>
                </a:r>
                <a:r>
                  <a:rPr lang="en-US" b="1" dirty="0"/>
                  <a:t>)</a:t>
                </a:r>
                <a:r>
                  <a:rPr lang="en-US" dirty="0"/>
                  <a:t> than         traditional phased-array radar </a:t>
                </a:r>
              </a:p>
              <a:p>
                <a:pPr lvl="1"/>
                <a:r>
                  <a:rPr lang="en-US" dirty="0"/>
                  <a:t>The radar beampattern can be designed through the </a:t>
                </a:r>
                <a:r>
                  <a:rPr lang="en-US" b="1" dirty="0"/>
                  <a:t>covariance matrix</a:t>
                </a:r>
                <a:r>
                  <a:rPr lang="en-US" dirty="0"/>
                  <a:t> of the probing signal </a:t>
                </a:r>
              </a:p>
              <a:p>
                <a:pPr lvl="1"/>
                <a:r>
                  <a:rPr lang="en-US" dirty="0"/>
                  <a:t>Therefore, radar beampattern design becomes a </a:t>
                </a:r>
                <a:r>
                  <a:rPr lang="en-US" b="1" dirty="0"/>
                  <a:t>covariance optimization problem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b="1" dirty="0"/>
                  <a:t>Beampattern gain at angle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ar-AE" b="1" dirty="0"/>
                  <a:t>:</a:t>
                </a:r>
                <a:endParaRPr lang="ar-AE" dirty="0"/>
              </a:p>
              <a:p>
                <a:pPr lvl="2"/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𝐑𝐚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endParaRPr lang="ar-AE" b="1" dirty="0"/>
              </a:p>
              <a:p>
                <a:pPr lvl="1"/>
                <a:r>
                  <a:rPr lang="en-US" b="1" dirty="0"/>
                  <a:t>Steering vector:</a:t>
                </a:r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l-GR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⁡</m:t>
                                      </m:r>
                                      <m:d>
                                        <m:d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sup>
                                  </m:sSup>
                                </m:e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d>
                                        <m:d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  <m:t>𝑁</m:t>
                                              </m:r>
                                            </m:e>
                                            <m:sub>
                                              <m: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  <m:r>
                                            <a:rPr lang="ar-AE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ar-AE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  <m:r>
                                        <m:rPr>
                                          <m:sty m:val="p"/>
                                        </m:rPr>
                                        <a:rPr lang="el-GR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⁡</m:t>
                                      </m:r>
                                      <m:d>
                                        <m:d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sup>
                                  </m:sSup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ar-AE" b="0" dirty="0"/>
              </a:p>
              <a:p>
                <a:pPr lvl="1"/>
                <a:r>
                  <a:rPr lang="en-US" b="1" dirty="0"/>
                  <a:t>Where:</a:t>
                </a:r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𝐑</m:t>
                    </m:r>
                  </m:oMath>
                </a14:m>
                <a:r>
                  <a:rPr lang="en-US" dirty="0"/>
                  <a:t>: waveform covariance matrix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ar-AE" dirty="0"/>
                  <a:t>: </a:t>
                </a:r>
                <a:r>
                  <a:rPr lang="en-US" dirty="0"/>
                  <a:t>number of transmit antennas 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l-GR" dirty="0"/>
                  <a:t>: </a:t>
                </a:r>
                <a:r>
                  <a:rPr lang="en-US" dirty="0"/>
                  <a:t>normalized antenna spacing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ar-AE" dirty="0"/>
                  <a:t>: </a:t>
                </a:r>
                <a:r>
                  <a:rPr lang="en-US" dirty="0"/>
                  <a:t>sampled angle on the detection grid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7DD0CF-2855-9E5A-81D4-E13CBFCB57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ECF09D-803E-2FF9-27C7-512A5570B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66703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27E05-E688-B89F-1CED-2E613D5F3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7DA3C9-B501-0FEC-8094-61BAFE134C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Convex Beampattern Matching Formulation</a:t>
                </a:r>
              </a:p>
              <a:p>
                <a:pPr lvl="1"/>
                <a:r>
                  <a:rPr lang="en-US" b="1" dirty="0"/>
                  <a:t>Optimization problem:</a:t>
                </a:r>
                <a:endParaRPr lang="en-US" dirty="0"/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𝑅𝑎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func>
                  </m:oMath>
                </a14:m>
                <a:endParaRPr lang="ar-AE" dirty="0"/>
              </a:p>
              <a:p>
                <a:pPr lvl="1"/>
                <a:r>
                  <a:rPr lang="en-US" b="1" dirty="0"/>
                  <a:t>Subject to:</a:t>
                </a:r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diag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r>
                      <a:rPr lang="ar-AE" b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ar-AE" b="1" dirty="0"/>
              </a:p>
              <a:p>
                <a:pPr lvl="2"/>
                <a14:m>
                  <m:oMath xmlns:m="http://schemas.openxmlformats.org/officeDocument/2006/math">
                    <m:r>
                      <a:rPr lang="ar-AE" b="1">
                        <a:latin typeface="Cambria Math" panose="02040503050406030204" pitchFamily="18" charset="0"/>
                      </a:rPr>
                      <m:t>𝐑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b="0" dirty="0"/>
              </a:p>
              <a:p>
                <a:pPr lvl="2"/>
                <a14:m>
                  <m:oMath xmlns:m="http://schemas.openxmlformats.org/officeDocument/2006/math">
                    <m:r>
                      <a:rPr lang="ar-AE" b="1">
                        <a:latin typeface="Cambria Math" panose="02040503050406030204" pitchFamily="18" charset="0"/>
                      </a:rPr>
                      <m:t>𝐑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</m:oMath>
                </a14:m>
                <a:endParaRPr lang="ar-AE" b="0" dirty="0"/>
              </a:p>
              <a:p>
                <a:pPr lvl="2"/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dirty="0"/>
              </a:p>
              <a:p>
                <a:pPr lvl="1"/>
                <a:r>
                  <a:rPr lang="en-US" b="1" dirty="0"/>
                  <a:t>Interpretation:</a:t>
                </a:r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dirty="0"/>
                  <a:t>: </a:t>
                </a:r>
                <a:r>
                  <a:rPr lang="en-US" dirty="0"/>
                  <a:t>desired beampattern at angle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𝐑𝐚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dirty="0"/>
                  <a:t>: </a:t>
                </a:r>
                <a:r>
                  <a:rPr lang="en-US" dirty="0"/>
                  <a:t>actual beampattern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: scaling factor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ar-AE" dirty="0"/>
                  <a:t>: </a:t>
                </a:r>
                <a:r>
                  <a:rPr lang="en-US" dirty="0"/>
                  <a:t>power budget </a:t>
                </a:r>
              </a:p>
              <a:p>
                <a:pPr lvl="1"/>
                <a:r>
                  <a:rPr lang="en-US" b="1" dirty="0"/>
                  <a:t>Why diagonal constraint?</a:t>
                </a:r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diag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r>
                      <a:rPr lang="ar-AE" b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ar-AE" b="1" dirty="0"/>
              </a:p>
              <a:p>
                <a:pPr lvl="2"/>
                <a:r>
                  <a:rPr lang="en-US" dirty="0"/>
                  <a:t>ensures that all antennas transmit the </a:t>
                </a:r>
                <a:r>
                  <a:rPr lang="en-US" b="1" dirty="0"/>
                  <a:t>same average power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7DA3C9-B501-0FEC-8094-61BAFE134C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30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83C7FE-7588-957B-FF81-E529BD07E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86990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3D469-C132-467F-9866-70A2C0D91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1D452A-C92D-63BD-5B5D-45524AC5F8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Main-Beam Width and Sidelobe Control</a:t>
                </a:r>
              </a:p>
              <a:p>
                <a:pPr lvl="1"/>
                <a:r>
                  <a:rPr lang="en-US" dirty="0"/>
                  <a:t>To directly control the beam shape, the paper also uses another convex optimization problem:</a:t>
                </a:r>
              </a:p>
              <a:p>
                <a:pPr lvl="1"/>
                <a14:m>
                  <m:oMath xmlns:m="http://schemas.openxmlformats.org/officeDocument/2006/math"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func>
                          <m:func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min</m:t>
                            </m:r>
                          </m:fName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func>
                      </m:e>
                      <m:lim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b="1">
                            <a:latin typeface="Cambria Math" panose="02040503050406030204" pitchFamily="18" charset="0"/>
                          </a:rPr>
                          <m:t>𝐑</m:t>
                        </m:r>
                      </m:lim>
                    </m:limLow>
                  </m:oMath>
                </a14:m>
                <a:endParaRPr lang="ar-AE" b="0" dirty="0"/>
              </a:p>
              <a:p>
                <a:pPr lvl="1"/>
                <a:r>
                  <a:rPr lang="en-US" b="1" dirty="0"/>
                  <a:t>Subject to:</a:t>
                </a:r>
                <a:endParaRPr lang="en-US" dirty="0"/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𝐑𝐚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𝐑𝐚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el-GR" b="0" dirty="0"/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𝐑𝐚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ar-AE" b="1">
                            <a:latin typeface="Cambria Math" panose="02040503050406030204" pitchFamily="18" charset="0"/>
                          </a:rPr>
                          <m:t>𝐑𝐚</m:t>
                        </m:r>
                        <m:d>
                          <m:d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ar-AE" b="0" dirty="0"/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𝐑𝐚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ar-AE" b="1">
                            <a:latin typeface="Cambria Math" panose="02040503050406030204" pitchFamily="18" charset="0"/>
                          </a:rPr>
                          <m:t>𝐑𝐚</m:t>
                        </m:r>
                        <m:d>
                          <m:d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ar-AE" b="0" dirty="0"/>
              </a:p>
              <a:p>
                <a:pPr lvl="2"/>
                <a14:m>
                  <m:oMath xmlns:m="http://schemas.openxmlformats.org/officeDocument/2006/math">
                    <m:r>
                      <a:rPr lang="ar-AE" b="1">
                        <a:latin typeface="Cambria Math" panose="02040503050406030204" pitchFamily="18" charset="0"/>
                      </a:rPr>
                      <m:t>𝐑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r>
                      <a:rPr lang="ar-AE" b="1">
                        <a:latin typeface="Cambria Math" panose="02040503050406030204" pitchFamily="18" charset="0"/>
                      </a:rPr>
                      <m:t>𝐑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diag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r>
                      <a:rPr lang="ar-AE" b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ar-AE" b="1" dirty="0"/>
              </a:p>
              <a:p>
                <a:pPr lvl="1"/>
                <a:r>
                  <a:rPr lang="en-US" b="1" dirty="0"/>
                  <a:t>Interpretation:</a:t>
                </a:r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ar-AE" dirty="0"/>
                  <a:t>: </a:t>
                </a:r>
                <a:r>
                  <a:rPr lang="en-US" dirty="0"/>
                  <a:t>main-beam direction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dirty="0"/>
                  <a:t>: </a:t>
                </a:r>
                <a:r>
                  <a:rPr lang="en-US" dirty="0"/>
                  <a:t>half-power points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dirty="0"/>
                  <a:t>: </a:t>
                </a:r>
                <a:r>
                  <a:rPr lang="ar-AE" b="1" dirty="0"/>
                  <a:t>3 </a:t>
                </a:r>
                <a:r>
                  <a:rPr lang="en-US" b="1" dirty="0"/>
                  <a:t>dB beamwidth</a:t>
                </a:r>
                <a:r>
                  <a:rPr lang="en-US" dirty="0"/>
                  <a:t> 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l-GR" dirty="0"/>
                  <a:t>: </a:t>
                </a:r>
                <a:r>
                  <a:rPr lang="en-US" dirty="0"/>
                  <a:t>sidelobe region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: minimum </a:t>
                </a:r>
                <a:r>
                  <a:rPr lang="en-US" dirty="0" err="1"/>
                  <a:t>mainlobe</a:t>
                </a:r>
                <a:r>
                  <a:rPr lang="en-US" dirty="0"/>
                  <a:t>-to-sidelobe gap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1D452A-C92D-63BD-5B5D-45524AC5F8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4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48C4D-10D9-C1C3-4A44-3D87B64D5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1" y="6356350"/>
            <a:ext cx="499844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52173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C6A60-7A02-92F7-3E59-900A1DAA9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28EF3-20AF-8978-2F7D-D19E71066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Message of Radar-Only Formulation</a:t>
            </a:r>
          </a:p>
          <a:p>
            <a:pPr lvl="1"/>
            <a:r>
              <a:rPr lang="en-US" dirty="0"/>
              <a:t>Radar beampattern design is reformulated as </a:t>
            </a:r>
            <a:r>
              <a:rPr lang="en-US" b="1" dirty="0"/>
              <a:t>covariance matrix optimization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Two convex radar-only formulations are used: </a:t>
            </a:r>
          </a:p>
          <a:p>
            <a:pPr lvl="2"/>
            <a:r>
              <a:rPr lang="en-US" b="1" dirty="0"/>
              <a:t>Least-squares beampattern matching</a:t>
            </a:r>
            <a:r>
              <a:rPr lang="en-US" dirty="0"/>
              <a:t> </a:t>
            </a:r>
          </a:p>
          <a:p>
            <a:pPr lvl="2"/>
            <a:r>
              <a:rPr lang="en-US" b="1" dirty="0"/>
              <a:t>3 dB beamwidth and sidelobe control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These radar formulations will later be combined with: </a:t>
            </a:r>
          </a:p>
          <a:p>
            <a:pPr lvl="2"/>
            <a:r>
              <a:rPr lang="en-US" b="1" dirty="0"/>
              <a:t>SINR constraints</a:t>
            </a:r>
            <a:r>
              <a:rPr lang="en-US" dirty="0"/>
              <a:t> </a:t>
            </a:r>
          </a:p>
          <a:p>
            <a:pPr lvl="2"/>
            <a:r>
              <a:rPr lang="en-US" b="1" dirty="0"/>
              <a:t>power constraints</a:t>
            </a:r>
            <a:r>
              <a:rPr lang="en-US" dirty="0"/>
              <a:t> </a:t>
            </a:r>
          </a:p>
          <a:p>
            <a:pPr lvl="2"/>
            <a:r>
              <a:rPr lang="en-US" b="1" dirty="0"/>
              <a:t>joint radar-communication beamforming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Section III-A provides the </a:t>
            </a:r>
            <a:r>
              <a:rPr lang="en-US" b="1" dirty="0"/>
              <a:t>radar design foundation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Later sections integrate it with </a:t>
            </a:r>
            <a:r>
              <a:rPr lang="en-US" b="1" dirty="0"/>
              <a:t>communication requirements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7B85B5-7535-7CE0-13C3-1610B025A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9492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9D735-BB2E-6954-6AC3-9D8CE7FFC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EEFB2F-601F-67CE-D793-1CE03F389D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Zero-Forcing Beamforming for Separated Deployment</a:t>
                </a:r>
              </a:p>
              <a:p>
                <a:pPr lvl="1"/>
                <a:r>
                  <a:rPr lang="en-US" dirty="0"/>
                  <a:t>In the </a:t>
                </a:r>
                <a:r>
                  <a:rPr lang="en-US" dirty="0">
                    <a:solidFill>
                      <a:srgbClr val="7030A0"/>
                    </a:solidFill>
                  </a:rPr>
                  <a:t>separated deployment</a:t>
                </a:r>
                <a:r>
                  <a:rPr lang="en-US" dirty="0"/>
                  <a:t>, radar antennas and communication antennas are different </a:t>
                </a:r>
              </a:p>
              <a:p>
                <a:pPr lvl="1"/>
                <a:r>
                  <a:rPr lang="en-US" dirty="0"/>
                  <a:t>The user signal contains a radar interference term: 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endParaRPr lang="ar-AE" b="1" dirty="0"/>
              </a:p>
              <a:p>
                <a:pPr lvl="1"/>
                <a:r>
                  <a:rPr lang="en-US" dirty="0"/>
                  <a:t>To eliminate this interference, the paper applies the </a:t>
                </a:r>
                <a:r>
                  <a:rPr lang="en-US" b="1" dirty="0"/>
                  <a:t>null-space projection (NSP)</a:t>
                </a:r>
                <a:r>
                  <a:rPr lang="en-US" dirty="0"/>
                  <a:t> idea </a:t>
                </a:r>
              </a:p>
              <a:p>
                <a:pPr lvl="1"/>
                <a:r>
                  <a:rPr lang="en-US" dirty="0"/>
                  <a:t>The radar signal is designed to lie in the </a:t>
                </a:r>
                <a:r>
                  <a:rPr lang="en-US" b="1" dirty="0"/>
                  <a:t>null space</a:t>
                </a:r>
                <a:r>
                  <a:rPr lang="en-US" dirty="0"/>
                  <a:t> of the radar-to-user channel </a:t>
                </a:r>
              </a:p>
              <a:p>
                <a:pPr lvl="1"/>
                <a:r>
                  <a:rPr lang="en-US" dirty="0"/>
                  <a:t>This ensures that radar does </a:t>
                </a:r>
                <a:r>
                  <a:rPr lang="en-US" b="1" dirty="0"/>
                  <a:t>not interfere</a:t>
                </a:r>
                <a:r>
                  <a:rPr lang="en-US" dirty="0"/>
                  <a:t> with downlink communication users 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Zero-forcing condition:</a:t>
                </a:r>
              </a:p>
              <a:p>
                <a:pPr lvl="1"/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∣"/>
                                      <m:endChr m:val="∣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ar-AE" b="1">
                                              <a:latin typeface="Cambria Math" panose="02040503050406030204" pitchFamily="18" charset="0"/>
                                            </a:rPr>
                                            <m:t>𝐟</m:t>
                                          </m:r>
                                        </m:e>
                                        <m:sub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bSup>
                                      <m:sSub>
                                        <m:sSub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 b="1">
                                              <a:latin typeface="Cambria Math" panose="02040503050406030204" pitchFamily="18" charset="0"/>
                                            </a:rPr>
                                            <m:t>𝐬</m:t>
                                          </m:r>
                                        </m:e>
                                        <m:sub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𝔼</m:t>
                          </m:r>
                          <m:r>
                            <m:rPr>
                              <m:nor/>
                            </m:rPr>
                            <a:rPr lang="ar-AE" i="1"/>
                            <m:t> 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1">
                                      <a:latin typeface="Cambria Math" panose="02040503050406030204" pitchFamily="18" charset="0"/>
                                    </a:rPr>
                                    <m:t>𝐬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ar-AE" b="1">
                                      <a:latin typeface="Cambria Math" panose="02040503050406030204" pitchFamily="18" charset="0"/>
                                    </a:rPr>
                                    <m:t>𝐬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  <m:sup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p>
                              </m:sSubSup>
                            </m:e>
                          </m:d>
                          <m:sSubSup>
                            <m:sSub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tr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ar-AE" b="1"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bSup>
                                  <m:sSubSup>
                                    <m:sSub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ar-AE" b="1"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1">
                                          <a:latin typeface="Cambria Math" panose="02040503050406030204" pitchFamily="18" charset="0"/>
                                        </a:rPr>
                                        <m:t>𝐑</m:t>
                                      </m:r>
                                    </m:e>
                                    <m:sub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 ∀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e/>
                        <m:e/>
                      </m:mr>
                    </m:m>
                  </m:oMath>
                </a14:m>
                <a:r>
                  <a:rPr lang="en-US" b="0" dirty="0"/>
                  <a:t>                                                 (11)</a:t>
                </a:r>
                <a:endParaRPr lang="ar-AE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must be designed so that radar leakage power toward every user is zero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EEFB2F-601F-67CE-D793-1CE03F389D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F87979-EC4E-AAA8-9925-A7DC38033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99591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45E3E-E1DC-AFAC-9FBC-02CCDBBB1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DB8BDF-13BB-DBDF-3298-8C3D3D4123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Zero-Forcing Radar Covariance Design</a:t>
                </a:r>
              </a:p>
              <a:p>
                <a:pPr lvl="1"/>
                <a:r>
                  <a:rPr lang="en-US" dirty="0"/>
                  <a:t>The radar-only beampattern design problems are modified by adding the zero-forcing                         constraint.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Least-squares beampattern matching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𝑃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0" smtClean="0">
                                            <a:latin typeface="Cambria Math" panose="02040503050406030204" pitchFamily="18" charset="0"/>
                                          </a:rPr>
                                          <m:t>𝐚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1" i="0" smtClean="0">
                                            <a:latin typeface="Cambria Math" panose="02040503050406030204" pitchFamily="18" charset="0"/>
                                          </a:rPr>
                                          <m:t>𝐑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𝐚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func>
                  </m:oMath>
                </a14:m>
                <a:endParaRPr lang="ar-AE" b="0" dirty="0"/>
              </a:p>
              <a:p>
                <a:pPr lvl="2"/>
                <a:r>
                  <a:rPr lang="en-US" b="1" dirty="0"/>
                  <a:t>Subject to:</a:t>
                </a:r>
                <a:endParaRPr lang="en-US" dirty="0"/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diag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den>
                    </m:f>
                    <m:r>
                      <a:rPr lang="ar-AE" b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ar-AE" b="1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b="0" dirty="0"/>
              </a:p>
              <a:p>
                <a:pPr lvl="3"/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tr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ar-AE" b="1">
                                      <a:latin typeface="Cambria Math" panose="02040503050406030204" pitchFamily="18" charset="0"/>
                                    </a:rPr>
                                    <m:t>𝐟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ar-AE" b="1">
                                      <a:latin typeface="Cambria Math" panose="02040503050406030204" pitchFamily="18" charset="0"/>
                                    </a:rPr>
                                    <m:t>𝐟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1">
                                      <a:latin typeface="Cambria Math" panose="02040503050406030204" pitchFamily="18" charset="0"/>
                                    </a:rPr>
                                    <m:t>𝐑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 ∀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e/>
                        <m:e/>
                      </m:mr>
                    </m:m>
                  </m:oMath>
                </a14:m>
                <a:r>
                  <a:rPr lang="en-US" b="0" dirty="0"/>
                  <a:t>   (12)</a:t>
                </a:r>
                <a:endParaRPr lang="ar-AE" b="0" dirty="0"/>
              </a:p>
              <a:p>
                <a:pPr lvl="1"/>
                <a:r>
                  <a:rPr lang="ar-AE" dirty="0">
                    <a:solidFill>
                      <a:srgbClr val="7030A0"/>
                    </a:solidFill>
                  </a:rPr>
                  <a:t>3 </a:t>
                </a:r>
                <a:r>
                  <a:rPr lang="en-US" dirty="0">
                    <a:solidFill>
                      <a:srgbClr val="7030A0"/>
                    </a:solidFill>
                  </a:rPr>
                  <a:t>dB beamwidth formulation</a:t>
                </a:r>
              </a:p>
              <a:p>
                <a:pPr lvl="2"/>
                <a14:m>
                  <m:oMath xmlns:m="http://schemas.openxmlformats.org/officeDocument/2006/math"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func>
                          <m:func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min</m:t>
                            </m:r>
                          </m:fName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func>
                      </m:e>
                      <m:lim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lim>
                    </m:limLow>
                  </m:oMath>
                </a14:m>
                <a:endParaRPr lang="ar-AE" b="0" dirty="0"/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Subject to: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el-GR" b="0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ar-AE" b="0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ar-AE" b="0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endParaRPr lang="ar-AE" b="0" dirty="0"/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diag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den>
                    </m:f>
                    <m:r>
                      <a:rPr lang="ar-AE" b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ar-AE" b="1" dirty="0"/>
              </a:p>
              <a:p>
                <a:pPr lvl="3"/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tr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ar-AE" b="1">
                                      <a:latin typeface="Cambria Math" panose="02040503050406030204" pitchFamily="18" charset="0"/>
                                    </a:rPr>
                                    <m:t>𝐟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ar-AE" b="1">
                                      <a:latin typeface="Cambria Math" panose="02040503050406030204" pitchFamily="18" charset="0"/>
                                    </a:rPr>
                                    <m:t>𝐟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1">
                                      <a:latin typeface="Cambria Math" panose="02040503050406030204" pitchFamily="18" charset="0"/>
                                    </a:rPr>
                                    <m:t>𝐑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 ∀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e/>
                        <m:e>
                          <m:r>
                            <m:rPr>
                              <m:nor/>
                            </m:rPr>
                            <a:rPr lang="en-US" b="0" i="1" smtClean="0"/>
                            <m:t> </m:t>
                          </m:r>
                        </m:e>
                      </m:mr>
                    </m:m>
                  </m:oMath>
                </a14:m>
                <a:r>
                  <a:rPr lang="en-US" b="0" dirty="0"/>
                  <a:t>   (13)</a:t>
                </a:r>
                <a:endParaRPr lang="ar-AE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DB8BDF-13BB-DBDF-3298-8C3D3D4123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965087-247E-F6D0-C932-4E1030DE8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25468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847FF-5310-25AD-EA00-CB5A41168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C9F4FA-9026-F935-0ACA-F02137DE52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Overall Covariance Matrix and Beampattern</a:t>
                </a:r>
              </a:p>
              <a:p>
                <a:pPr lvl="1"/>
                <a:r>
                  <a:rPr lang="en-US" dirty="0"/>
                  <a:t>Since radar and communication signals are </a:t>
                </a:r>
                <a:r>
                  <a:rPr lang="en-US" dirty="0">
                    <a:solidFill>
                      <a:srgbClr val="7030A0"/>
                    </a:solidFill>
                  </a:rPr>
                  <a:t>statistically independent</a:t>
                </a:r>
                <a:r>
                  <a:rPr lang="en-US" dirty="0"/>
                  <a:t>, the total covariance            matrix is</a:t>
                </a:r>
              </a:p>
              <a:p>
                <a:pPr lvl="2"/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  <m:e>
                          <m:acc>
                            <m:accPr>
                              <m:chr m:val="̃"/>
                              <m:ctrlPr>
                                <a:rPr lang="ar-AE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𝐂</m:t>
                              </m:r>
                            </m:e>
                          </m:acc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b="1">
                                            <a:latin typeface="Cambria Math" panose="02040503050406030204" pitchFamily="18" charset="0"/>
                                          </a:rPr>
                                          <m:t>𝐑</m:t>
                                        </m:r>
                                      </m:e>
                                      <m:sub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ar-AE" b="1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ar-AE" b="1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ar-AE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b="1">
                                            <a:latin typeface="Cambria Math" panose="02040503050406030204" pitchFamily="18" charset="0"/>
                                          </a:rPr>
                                          <m:t>𝐂</m:t>
                                        </m:r>
                                      </m:e>
                                      <m:sub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b="1">
                                            <a:latin typeface="Cambria Math" panose="02040503050406030204" pitchFamily="18" charset="0"/>
                                          </a:rPr>
                                          <m:t>𝐑</m:t>
                                        </m:r>
                                      </m:e>
                                      <m:sub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ar-AE" b="1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ar-AE" b="1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nary>
                                      <m:naryPr>
                                        <m:chr m:val="∑"/>
                                        <m:limLoc m:val="subSup"/>
                                        <m:grow m:val="on"/>
                                        <m:ctrlPr>
                                          <a:rPr lang="ar-AE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ar-AE" b="1">
                                                <a:latin typeface="Cambria Math" panose="02040503050406030204" pitchFamily="18" charset="0"/>
                                              </a:rPr>
                                              <m:t>𝐖</m:t>
                                            </m:r>
                                          </m:e>
                                          <m:sub>
                                            <m: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e>
                                </m:mr>
                              </m:m>
                            </m:e>
                          </m:d>
                        </m:e>
                        <m:e/>
                        <m:e/>
                      </m:mr>
                    </m:m>
                  </m:oMath>
                </a14:m>
                <a:r>
                  <a:rPr lang="en-US" b="1" dirty="0"/>
                  <a:t>                                                   </a:t>
                </a:r>
                <a:r>
                  <a:rPr lang="en-US" dirty="0"/>
                  <a:t>(14)</a:t>
                </a:r>
                <a:endParaRPr lang="ar-AE" dirty="0"/>
              </a:p>
              <a:p>
                <a:pPr lvl="1"/>
                <a:r>
                  <a:rPr lang="en-US" dirty="0"/>
                  <a:t>The overall beampattern gain at angle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is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acc>
                      <m:accPr>
                        <m:chr m:val="̃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𝐂</m:t>
                        </m:r>
                      </m:e>
                    </m:acc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endParaRPr lang="ar-AE" b="1" dirty="0"/>
              </a:p>
              <a:p>
                <a:pPr lvl="2"/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p>
                          </m:sSub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𝐑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p>
                          </m:sSub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nary>
                                <m:naryPr>
                                  <m:chr m:val="∑"/>
                                  <m:grow m:val="on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1">
                                          <a:latin typeface="Cambria Math" panose="02040503050406030204" pitchFamily="18" charset="0"/>
                                        </a:rPr>
                                        <m:t>𝐖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  <m:e/>
                        <m:e/>
                      </m:mr>
                    </m:m>
                  </m:oMath>
                </a14:m>
                <a:r>
                  <a:rPr lang="en-US" b="0" dirty="0"/>
                  <a:t>                                (15)</a:t>
                </a:r>
                <a:endParaRPr lang="en-US" dirty="0"/>
              </a:p>
              <a:p>
                <a:pPr lvl="2"/>
                <a:r>
                  <a:rPr lang="en-US" dirty="0"/>
                  <a:t>first term = </a:t>
                </a:r>
                <a:r>
                  <a:rPr lang="en-US" dirty="0">
                    <a:solidFill>
                      <a:srgbClr val="0070C0"/>
                    </a:solidFill>
                  </a:rPr>
                  <a:t>beampattern from radar antennas </a:t>
                </a:r>
              </a:p>
              <a:p>
                <a:pPr lvl="2"/>
                <a:r>
                  <a:rPr lang="en-US" dirty="0"/>
                  <a:t>second term = </a:t>
                </a:r>
                <a:r>
                  <a:rPr lang="en-US" dirty="0">
                    <a:solidFill>
                      <a:srgbClr val="002060"/>
                    </a:solidFill>
                  </a:rPr>
                  <a:t>beampattern from communication antennas </a:t>
                </a:r>
              </a:p>
              <a:p>
                <a:pPr lvl="1"/>
                <a:r>
                  <a:rPr lang="en-US" dirty="0"/>
                  <a:t>Even in separated deployment, the communication covariance contributes to the </a:t>
                </a:r>
                <a:r>
                  <a:rPr lang="en-US" dirty="0">
                    <a:solidFill>
                      <a:srgbClr val="7030A0"/>
                    </a:solidFill>
                  </a:rPr>
                  <a:t>overall radar   beampattern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C9F4FA-9026-F935-0ACA-F02137DE52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r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500EB-F0CC-DB06-E5F1-1C548C8C2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838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5A7F6-9CFF-EF0F-7C5A-BB5C60363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8B751C-2833-BF41-7844-84C17B8B56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Communication Beampattern Matching</a:t>
                </a:r>
              </a:p>
              <a:p>
                <a:pPr lvl="1"/>
                <a:r>
                  <a:rPr lang="en-US" dirty="0"/>
                  <a:t>If the overall beampattern is required to match the radar-only beampattern shape, then</a:t>
                </a:r>
              </a:p>
              <a:p>
                <a:pPr lvl="2"/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  <m:e>
                          <m:sSubSup>
                            <m:sSubSupPr>
                              <m:ctrlPr>
                                <a:rPr lang="ar-AE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p>
                          </m:sSubSup>
                          <m:d>
                            <m:dPr>
                              <m:ctrlPr>
                                <a:rPr lang="ar-AE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"/>
                              <m:ctrlPr>
                                <a:rPr lang="ar-AE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nary>
                                <m:naryPr>
                                  <m:chr m:val="∑"/>
                                  <m:grow m:val="on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1">
                                          <a:latin typeface="Cambria Math" panose="02040503050406030204" pitchFamily="18" charset="0"/>
                                        </a:rPr>
                                        <m:t>𝐖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  <m:sSub>
                            <m:sSubPr>
                              <m:ctrlPr>
                                <a:rPr lang="ar-AE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ar-AE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m:rPr>
                              <m:nor/>
                            </m:rPr>
                            <a:rPr lang="ar-AE" i="1"/>
                            <m:t> </m:t>
                          </m:r>
                          <m:sSubSup>
                            <m:sSub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p>
                          </m:sSub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𝐑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, ∀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e/>
                        <m:e/>
                      </m:mr>
                    </m:m>
                  </m:oMath>
                </a14:m>
                <a:r>
                  <a:rPr lang="en-US" b="1" dirty="0"/>
                  <a:t>                                          </a:t>
                </a:r>
                <a:r>
                  <a:rPr lang="en-US" dirty="0"/>
                  <a:t>(16)</a:t>
                </a:r>
                <a:endParaRPr lang="ar-AE" dirty="0"/>
              </a:p>
              <a:p>
                <a:pPr lvl="2"/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is a scaling factor.</a:t>
                </a:r>
              </a:p>
              <a:p>
                <a:pPr lvl="1"/>
                <a:r>
                  <a:rPr lang="en-US" dirty="0"/>
                  <a:t>Define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𝐀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,……..,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ℂ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</m:oMath>
                </a14:m>
                <a:endParaRPr lang="ar-AE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,……..,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ℂ</m:t>
                        </m:r>
                      </m:e>
                      <m: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</m:oMath>
                </a14:m>
                <a:endParaRPr lang="ar-AE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,……….,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Then equation (16) becomes</a:t>
                </a:r>
              </a:p>
              <a:p>
                <a:pPr lvl="2"/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diag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p>
                          </m:sSubSup>
                          <m:nary>
                            <m:naryPr>
                              <m:chr m:val="∑"/>
                              <m:grow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1">
                                      <a:latin typeface="Cambria Math" panose="02040503050406030204" pitchFamily="18" charset="0"/>
                                    </a:rPr>
                                    <m:t>𝐖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m:rPr>
                              <m:nor/>
                            </m:rPr>
                            <a:rPr lang="ar-AE" i="1"/>
                            <m:t> 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𝑑𝑖𝑎𝑔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𝐑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e/>
                        <m:e>
                          <m:r>
                            <m:rPr>
                              <m:nor/>
                            </m:rPr>
                            <a:rPr lang="en-US" b="0" i="1" smtClean="0"/>
                            <m:t> </m:t>
                          </m:r>
                        </m:e>
                      </m:mr>
                    </m:m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Communication beamforming is designed to imitate the shape of the radar beampattern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8B751C-2833-BF41-7844-84C17B8B56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BE29E-3683-35A2-6920-43619F61E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00346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E07F2-110E-2318-13BF-21FF3C646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CD983A-8712-8DD9-09E7-9BEB4CDBDE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Downlink Beamforming Optimization</a:t>
                </a:r>
              </a:p>
              <a:p>
                <a:pPr lvl="1"/>
                <a:r>
                  <a:rPr lang="en-US" dirty="0"/>
                  <a:t>The downlink beamforming problem is formulated as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𝑑𝑖𝑎𝑔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 i="0" smtClean="0">
                                            <a:latin typeface="Cambria Math" panose="02040503050406030204" pitchFamily="18" charset="0"/>
                                          </a:rPr>
                                          <m:t>𝐀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sup>
                                    </m:sSubSup>
                                    <m:nary>
                                      <m:naryPr>
                                        <m:chr m:val="∑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m:rPr>
                                            <m:brk m:alnAt="23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1" i="0" smtClean="0">
                                                <a:latin typeface="Cambria Math" panose="02040503050406030204" pitchFamily="18" charset="0"/>
                                              </a:rPr>
                                              <m:t>𝐖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1" i="0" smtClean="0">
                                                <a:latin typeface="Cambria Math" panose="02040503050406030204" pitchFamily="18" charset="0"/>
                                              </a:rPr>
                                              <m:t>𝐀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𝑑𝑖𝑎𝑔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b="1" i="0" smtClean="0">
                                                <a:latin typeface="Cambria Math" panose="02040503050406030204" pitchFamily="18" charset="0"/>
                                              </a:rPr>
                                              <m:t>𝐀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  <m:sup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𝐻</m:t>
                                            </m:r>
                                          </m:sup>
                                        </m:sSubSup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1" i="0" smtClean="0">
                                                <a:latin typeface="Cambria Math" panose="02040503050406030204" pitchFamily="18" charset="0"/>
                                              </a:rPr>
                                              <m:t>𝐑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1" i="0" smtClean="0">
                                                <a:latin typeface="Cambria Math" panose="02040503050406030204" pitchFamily="18" charset="0"/>
                                              </a:rPr>
                                              <m:t>𝐀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func>
                  </m:oMath>
                </a14:m>
                <a:endParaRPr lang="ar-AE" b="0" dirty="0"/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Subject to: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ar-AE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lang="ar-AE" dirty="0"/>
              </a:p>
              <a:p>
                <a:pPr lvl="3"/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endParaRPr lang="ar-AE" b="0" dirty="0"/>
              </a:p>
              <a:p>
                <a:pPr lvl="3"/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rank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⁡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1">
                                      <a:latin typeface="Cambria Math" panose="02040503050406030204" pitchFamily="18" charset="0"/>
                                    </a:rPr>
                                    <m:t>𝐖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 ∀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e/>
                        <m:e/>
                      </m:mr>
                    </m:m>
                  </m:oMath>
                </a14:m>
                <a:r>
                  <a:rPr lang="en-US" b="0" dirty="0"/>
                  <a:t>                                                                         (19)</a:t>
                </a:r>
                <a:endParaRPr lang="ar-AE" b="0" dirty="0"/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Where: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: </a:t>
                </a:r>
                <a:r>
                  <a:rPr lang="en-US" dirty="0"/>
                  <a:t>SINR threshold of user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dirty="0"/>
                  <a:t>: </a:t>
                </a:r>
                <a:r>
                  <a:rPr lang="en-US" dirty="0"/>
                  <a:t>communication transmit power 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ar-AE" dirty="0"/>
                  <a:t>: </a:t>
                </a:r>
                <a:r>
                  <a:rPr lang="en-US" dirty="0"/>
                  <a:t>communication power budget </a:t>
                </a:r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Interpretation:</a:t>
                </a:r>
              </a:p>
              <a:p>
                <a:pPr lvl="3"/>
                <a:r>
                  <a:rPr lang="en-US" dirty="0"/>
                  <a:t>match the communication beampattern to the radar beampattern </a:t>
                </a:r>
              </a:p>
              <a:p>
                <a:pPr lvl="3"/>
                <a:r>
                  <a:rPr lang="en-US" dirty="0"/>
                  <a:t>satisfy SINR constraints </a:t>
                </a:r>
              </a:p>
              <a:p>
                <a:pPr lvl="3"/>
                <a:r>
                  <a:rPr lang="en-US" dirty="0"/>
                  <a:t>satisfy power constraint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CD983A-8712-8DD9-09E7-9BEB4CDBDE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63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A8442-8CC1-27D7-33FD-976625597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47918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965DC-42B0-0B91-160F-6B82E0944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DF5786-E2B2-4BC0-A342-1238435CD5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Solution Method and Algorithm 1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Observations:</a:t>
                </a:r>
              </a:p>
              <a:p>
                <a:pPr lvl="2"/>
                <a:r>
                  <a:rPr lang="en-US" dirty="0"/>
                  <a:t>Problem (19) is </a:t>
                </a:r>
                <a:r>
                  <a:rPr lang="en-US" dirty="0">
                    <a:solidFill>
                      <a:srgbClr val="002060"/>
                    </a:solidFill>
                  </a:rPr>
                  <a:t>non-convex</a:t>
                </a:r>
                <a:r>
                  <a:rPr lang="en-US" dirty="0"/>
                  <a:t> </a:t>
                </a:r>
              </a:p>
              <a:p>
                <a:pPr lvl="2"/>
                <a:r>
                  <a:rPr lang="en-US" dirty="0"/>
                  <a:t>The main source of non-convexity is the </a:t>
                </a:r>
                <a:r>
                  <a:rPr lang="en-US" dirty="0">
                    <a:solidFill>
                      <a:srgbClr val="002060"/>
                    </a:solidFill>
                  </a:rPr>
                  <a:t>rank-one constraint </a:t>
                </a:r>
              </a:p>
              <a:p>
                <a:pPr lvl="2"/>
                <a:r>
                  <a:rPr lang="en-US" dirty="0"/>
                  <a:t>A suboptimal solution is obtained using </a:t>
                </a:r>
                <a:r>
                  <a:rPr lang="en-US" dirty="0">
                    <a:solidFill>
                      <a:srgbClr val="002060"/>
                    </a:solidFill>
                  </a:rPr>
                  <a:t>semidefinite relaxation (SDR): </a:t>
                </a:r>
              </a:p>
              <a:p>
                <a:pPr lvl="3"/>
                <a:r>
                  <a:rPr lang="en-US" dirty="0"/>
                  <a:t>drop the rank-one constraints </a:t>
                </a:r>
              </a:p>
              <a:p>
                <a:pPr lvl="3"/>
                <a:r>
                  <a:rPr lang="en-US" dirty="0"/>
                  <a:t>solve the resulting </a:t>
                </a:r>
                <a:r>
                  <a:rPr lang="en-US" dirty="0">
                    <a:solidFill>
                      <a:srgbClr val="7030A0"/>
                    </a:solidFill>
                  </a:rPr>
                  <a:t>SDP </a:t>
                </a:r>
              </a:p>
              <a:p>
                <a:pPr lvl="3"/>
                <a:r>
                  <a:rPr lang="en-US" dirty="0"/>
                  <a:t>recover approximate rank-one solutions 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Approximation methods:</a:t>
                </a:r>
              </a:p>
              <a:p>
                <a:pPr lvl="2"/>
                <a:r>
                  <a:rPr lang="en-US" dirty="0"/>
                  <a:t>eigenvalue decomposition </a:t>
                </a:r>
              </a:p>
              <a:p>
                <a:pPr lvl="2"/>
                <a:r>
                  <a:rPr lang="en-US" dirty="0"/>
                  <a:t>Gaussian randomization 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Algorithm 1</a:t>
                </a:r>
              </a:p>
              <a:p>
                <a:pPr lvl="2"/>
                <a:r>
                  <a:rPr lang="en-US" dirty="0"/>
                  <a:t>Solve (12) or (13) to obtain radar covariance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Substitute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into (19) </a:t>
                </a:r>
              </a:p>
              <a:p>
                <a:pPr lvl="2"/>
                <a:r>
                  <a:rPr lang="en-US" dirty="0"/>
                  <a:t>Solve the relaxed SDP by omitting rank-one constraints </a:t>
                </a:r>
              </a:p>
              <a:p>
                <a:pPr lvl="2"/>
                <a:r>
                  <a:rPr lang="en-US" dirty="0"/>
                  <a:t>Recover approximate beamformers using rank-one approximation 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Key message:</a:t>
                </a:r>
              </a:p>
              <a:p>
                <a:pPr lvl="2"/>
                <a:r>
                  <a:rPr lang="en-US" dirty="0"/>
                  <a:t>separated deployment uses only part of the antenna array </a:t>
                </a:r>
              </a:p>
              <a:p>
                <a:pPr lvl="2"/>
                <a:r>
                  <a:rPr lang="en-US" dirty="0"/>
                  <a:t>therefore, it is computationally efficient </a:t>
                </a:r>
              </a:p>
              <a:p>
                <a:pPr lvl="2"/>
                <a:r>
                  <a:rPr lang="en-US" dirty="0"/>
                  <a:t>but it may suffer from performance loss due to zero-forcing constraints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DF5786-E2B2-4BC0-A342-1238435CD5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311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62A9F-3290-0830-B04D-91C139927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27721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00312-69C6-857B-B291-C6392672C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41BC6E-7ABB-E832-AD13-0A1CFE4C11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Shared Deployment Formulation</a:t>
                </a:r>
              </a:p>
              <a:p>
                <a:pPr lvl="1"/>
                <a:r>
                  <a:rPr lang="en-US" dirty="0"/>
                  <a:t>All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antennas are shared by radar and communication </a:t>
                </a:r>
              </a:p>
              <a:p>
                <a:pPr lvl="1"/>
                <a:r>
                  <a:rPr lang="en-US" dirty="0"/>
                  <a:t>Radar targets are treated as </a:t>
                </a:r>
                <a:r>
                  <a:rPr lang="en-US" dirty="0">
                    <a:solidFill>
                      <a:srgbClr val="7030A0"/>
                    </a:solidFill>
                  </a:rPr>
                  <a:t>virtual </a:t>
                </a:r>
                <a:r>
                  <a:rPr lang="en-US" dirty="0" err="1">
                    <a:solidFill>
                      <a:srgbClr val="7030A0"/>
                    </a:solidFill>
                  </a:rPr>
                  <a:t>LoS</a:t>
                </a:r>
                <a:r>
                  <a:rPr lang="en-US" dirty="0">
                    <a:solidFill>
                      <a:srgbClr val="7030A0"/>
                    </a:solidFill>
                  </a:rPr>
                  <a:t> users </a:t>
                </a:r>
              </a:p>
              <a:p>
                <a:pPr lvl="1"/>
                <a:r>
                  <a:rPr lang="en-US" dirty="0"/>
                  <a:t>Communication users remain real users in fading channels </a:t>
                </a:r>
              </a:p>
              <a:p>
                <a:pPr lvl="1"/>
                <a:r>
                  <a:rPr lang="en-US" dirty="0"/>
                  <a:t>Desired radar covariance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is first obtained from radar-only design 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𝐓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1" i="0">
                                            <a:latin typeface="Cambria Math" panose="02040503050406030204" pitchFamily="18" charset="0"/>
                                          </a:rPr>
                                          <m:t>𝐓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1" i="0">
                                            <a:latin typeface="Cambria Math" panose="02040503050406030204" pitchFamily="18" charset="0"/>
                                          </a:rPr>
                                          <m:t>𝐑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d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func>
                  </m:oMath>
                </a14:m>
                <a:r>
                  <a:rPr lang="en-US" b="0" dirty="0"/>
                  <a:t>                                                                       (20a)</a:t>
                </a:r>
                <a:endParaRPr lang="ar-AE" b="0" dirty="0"/>
              </a:p>
              <a:p>
                <a:pPr lvl="2"/>
                <a:r>
                  <a:rPr lang="en-US" dirty="0"/>
                  <a:t>subject to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                                                                               (20b)</a:t>
                </a:r>
                <a:endParaRPr lang="ar-AE" dirty="0"/>
              </a:p>
              <a:p>
                <a:pPr lvl="3"/>
                <a14:m>
                  <m:oMath xmlns:m="http://schemas.openxmlformats.org/officeDocument/2006/math"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diag</m:t>
                        </m:r>
                      </m:fName>
                      <m:e>
                        <m:d>
                          <m:dPr>
                            <m:begChr m:val="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grow m:val="on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>
                                        <a:latin typeface="Cambria Math" panose="02040503050406030204" pitchFamily="18" charset="0"/>
                                      </a:rPr>
                                      <m:t>𝐓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</m:e>
                    </m:fun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ar-AE" b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/>
                  <a:t>                                                                 </a:t>
                </a:r>
                <a:r>
                  <a:rPr lang="en-US" dirty="0"/>
                  <a:t>(20c)</a:t>
                </a:r>
                <a:endParaRPr lang="ar-AE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𝐓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𝐓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𝐓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𝐓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b="0" dirty="0"/>
                  <a:t>                                                   (20d)</a:t>
                </a:r>
                <a:endParaRPr lang="ar-AE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41BC6E-7ABB-E832-AD13-0A1CFE4C11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6400B-34CF-3366-3B02-E30E345BB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7490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FE537-B59E-1DF9-5745-D70A559EF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B4EDCF-FAEA-EF1A-23B9-39083F8C4C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Challenges and Motivation</a:t>
                </a:r>
              </a:p>
              <a:p>
                <a:pPr lvl="1"/>
                <a:r>
                  <a:rPr lang="en-US" dirty="0"/>
                  <a:t>But problem (20): </a:t>
                </a:r>
              </a:p>
              <a:p>
                <a:pPr lvl="2"/>
                <a:r>
                  <a:rPr lang="en-US" dirty="0"/>
                  <a:t>has larger dimension </a:t>
                </a:r>
              </a:p>
              <a:p>
                <a:pPr lvl="2"/>
                <a:r>
                  <a:rPr lang="en-US" dirty="0"/>
                  <a:t>is costly to solve </a:t>
                </a:r>
              </a:p>
              <a:p>
                <a:pPr lvl="2"/>
                <a:r>
                  <a:rPr lang="en-US" dirty="0"/>
                  <a:t>is hard for SDR under strict per-antenna equality </a:t>
                </a:r>
              </a:p>
              <a:p>
                <a:pPr lvl="2"/>
                <a:r>
                  <a:rPr lang="en-US" dirty="0"/>
                  <a:t>may become infeasible when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is large 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Therefore:</a:t>
                </a:r>
              </a:p>
              <a:p>
                <a:pPr lvl="2"/>
                <a:r>
                  <a:rPr lang="en-US" dirty="0"/>
                  <a:t>The paper converts problem (20) into </a:t>
                </a:r>
                <a:r>
                  <a:rPr lang="en-US" dirty="0">
                    <a:solidFill>
                      <a:srgbClr val="7030A0"/>
                    </a:solidFill>
                  </a:rPr>
                  <a:t>weighted optimization problems</a:t>
                </a:r>
                <a:r>
                  <a:rPr lang="en-US" dirty="0"/>
                  <a:t> </a:t>
                </a:r>
              </a:p>
              <a:p>
                <a:pPr lvl="2"/>
                <a:r>
                  <a:rPr lang="en-US" dirty="0"/>
                  <a:t>SINR constraints are moved into the objective as </a:t>
                </a:r>
                <a:r>
                  <a:rPr lang="en-US" dirty="0">
                    <a:solidFill>
                      <a:srgbClr val="7030A0"/>
                    </a:solidFill>
                  </a:rPr>
                  <a:t>penalty terms </a:t>
                </a:r>
              </a:p>
              <a:p>
                <a:pPr lvl="2"/>
                <a:r>
                  <a:rPr lang="en-US" dirty="0"/>
                  <a:t>These are later solved using </a:t>
                </a:r>
                <a:r>
                  <a:rPr lang="en-US" dirty="0">
                    <a:solidFill>
                      <a:srgbClr val="7030A0"/>
                    </a:solidFill>
                  </a:rPr>
                  <a:t>manifold optimization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B4EDCF-FAEA-EF1A-23B9-39083F8C4C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5BC5E-0A32-7D68-8FD0-74CC4DFEC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8727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B8F0B-A374-6E54-DAD3-337577FE9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DF3EDF-9A4B-CBEA-0B4A-0BBED29290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SINR Penalty Terms</a:t>
                </a:r>
              </a:p>
              <a:p>
                <a:pPr lvl="1"/>
                <a:r>
                  <a:rPr lang="en-US" dirty="0"/>
                  <a:t>The original shared-deployment problem (20) contains hard SINR constraints: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These hard constraints can: </a:t>
                </a:r>
              </a:p>
              <a:p>
                <a:pPr lvl="2"/>
                <a:r>
                  <a:rPr lang="en-US" dirty="0"/>
                  <a:t>make the problem difficult to solve </a:t>
                </a:r>
              </a:p>
              <a:p>
                <a:pPr lvl="2"/>
                <a:r>
                  <a:rPr lang="en-US" dirty="0"/>
                  <a:t>reduce feasibility probability </a:t>
                </a:r>
              </a:p>
              <a:p>
                <a:pPr lvl="1"/>
                <a:r>
                  <a:rPr lang="en-US" dirty="0"/>
                  <a:t>To simplify the optimization, the paper moves the SINR constraints into the </a:t>
                </a:r>
                <a:r>
                  <a:rPr lang="en-US" dirty="0">
                    <a:solidFill>
                      <a:srgbClr val="7030A0"/>
                    </a:solidFill>
                  </a:rPr>
                  <a:t>objective function   </a:t>
                </a:r>
                <a:r>
                  <a:rPr lang="en-US" dirty="0"/>
                  <a:t>as </a:t>
                </a:r>
                <a:r>
                  <a:rPr lang="en-US" dirty="0">
                    <a:solidFill>
                      <a:srgbClr val="7030A0"/>
                    </a:solidFill>
                  </a:rPr>
                  <a:t>penalty terms </a:t>
                </a:r>
              </a:p>
              <a:p>
                <a:pPr lvl="1"/>
                <a:r>
                  <a:rPr lang="en-US" dirty="0"/>
                  <a:t>From this point, the paper uses: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instead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instead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Instead of strictly enforcing user SINR constraints, penalize mismatch from the desired SINR targets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DF3EDF-9A4B-CBEA-0B4A-0BBED29290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B94388-86A8-0C81-F499-B1E879000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94192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BF8D7-FA8E-D26C-F13D-40E4FDCF4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50CBFD-9913-F706-91E9-A2FE718700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Sum-Square Penalty</a:t>
                </a:r>
              </a:p>
              <a:p>
                <a:pPr lvl="1"/>
                <a:r>
                  <a:rPr lang="en-US" dirty="0"/>
                  <a:t>The first penalty is the sum of squared SINR errors:</a:t>
                </a:r>
              </a:p>
              <a:p>
                <a:pPr lvl="2"/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  <m:e>
                          <m:acc>
                            <m:accPr>
                              <m:chr m:val="̃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acc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b="1" i="1">
                                  <a:latin typeface="Cambria Math" panose="02040503050406030204" pitchFamily="18" charset="0"/>
                                </a:rPr>
                                <m:t>𝜸</m:t>
                              </m:r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grow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nary>
                          <m:d>
                            <m:dPr>
                              <m:begChr m:val=""/>
                              <m:endChr m:val="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>
                                      <a:latin typeface="Cambria Math" panose="02040503050406030204" pitchFamily="18" charset="0"/>
                                    </a:rPr>
                                    <m:t>Γ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endChr m:val="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=∥</m:t>
                              </m:r>
                              <m:r>
                                <a:rPr lang="ar-AE" b="1" i="1">
                                  <a:latin typeface="Cambria Math" panose="02040503050406030204" pitchFamily="18" charset="0"/>
                                </a:rPr>
                                <m:t>𝜸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𝚪</m:t>
                              </m:r>
                              <m:sSup>
                                <m:sSupPr>
                                  <m:ctrlPr>
                                    <a:rPr lang="ar-AE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e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e/>
                        <m:e/>
                      </m:mr>
                    </m:m>
                  </m:oMath>
                </a14:m>
                <a:r>
                  <a:rPr lang="en-US" b="0" dirty="0"/>
                  <a:t>                                                     (21)</a:t>
                </a:r>
                <a:endParaRPr lang="ar-AE" b="0" dirty="0"/>
              </a:p>
              <a:p>
                <a:pPr lvl="2"/>
                <a:r>
                  <a:rPr lang="en-US" dirty="0"/>
                  <a:t>where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sz="1400" b="1" i="1">
                        <a:latin typeface="Cambria Math" panose="02040503050406030204" pitchFamily="18" charset="0"/>
                      </a:rPr>
                      <m:t>𝜸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,………,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ar-AE" sz="1400" b="0" dirty="0"/>
              </a:p>
              <a:p>
                <a:pPr lvl="3"/>
                <a14:m>
                  <m:oMath xmlns:m="http://schemas.openxmlformats.org/officeDocument/2006/math">
                    <m:r>
                      <a:rPr lang="ar-AE" sz="1400" b="1">
                        <a:latin typeface="Cambria Math" panose="02040503050406030204" pitchFamily="18" charset="0"/>
                      </a:rPr>
                      <m:t>𝚪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,……..,</m:t>
                        </m:r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ar-AE" sz="1400" b="0" dirty="0"/>
              </a:p>
              <a:p>
                <a:pPr lvl="1"/>
                <a:r>
                  <a:rPr lang="en-US" dirty="0"/>
                  <a:t>Using the SINR expression in the shared deployment,</a:t>
                </a:r>
              </a:p>
              <a:p>
                <a:pPr lvl="2"/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1">
                                          <a:latin typeface="Cambria Math" panose="02040503050406030204" pitchFamily="18" charset="0"/>
                                        </a:rPr>
                                        <m:t>𝐁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1">
                                          <a:latin typeface="Cambria Math" panose="02040503050406030204" pitchFamily="18" charset="0"/>
                                        </a:rPr>
                                        <m:t>𝐓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tr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1">
                                          <a:latin typeface="Cambria Math" panose="02040503050406030204" pitchFamily="18" charset="0"/>
                                        </a:rPr>
                                        <m:t>𝐁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nary>
                                    <m:naryPr>
                                      <m:chr m:val="∑"/>
                                      <m:grow m:val="on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m>
                                        <m:mPr>
                                          <m:plcHide m:val="on"/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  <m:t>=</m:t>
                                            </m:r>
                                            <m: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  <m:t>≠</m:t>
                                            </m:r>
                                            <m: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e>
                                        </m:mr>
                                      </m:m>
                                    </m:sub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 b="1">
                                              <a:latin typeface="Cambria Math" panose="02040503050406030204" pitchFamily="18" charset="0"/>
                                            </a:rPr>
                                            <m:t>𝐓</m:t>
                                          </m:r>
                                        </m:e>
                                        <m:sub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, ∀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e/>
                        <m:e/>
                      </m:mr>
                    </m:m>
                  </m:oMath>
                </a14:m>
                <a:r>
                  <a:rPr lang="en-US" b="0" dirty="0"/>
                  <a:t>                                                            (22)</a:t>
                </a:r>
                <a:endParaRPr lang="ar-AE" b="0" dirty="0"/>
              </a:p>
              <a:p>
                <a:pPr lvl="2"/>
                <a:r>
                  <a:rPr lang="en-US" dirty="0"/>
                  <a:t>where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b="1">
                            <a:latin typeface="Cambria Math" panose="02040503050406030204" pitchFamily="18" charset="0"/>
                          </a:rPr>
                          <m:t>𝐁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sz="140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sz="1400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ar-AE" sz="14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sSubSup>
                      <m:sSub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sz="1400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endParaRPr lang="ar-AE" sz="1400" b="0" dirty="0"/>
              </a:p>
              <a:p>
                <a:pPr lvl="1"/>
                <a:r>
                  <a:rPr lang="en-US" dirty="0"/>
                  <a:t>To simplify notation, define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,……..,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with</a:t>
                </a:r>
              </a:p>
              <a:p>
                <a:pPr lvl="2"/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  <m:e>
                          <m:sSub>
                            <m:sSubPr>
                              <m:ctrlPr>
                                <a:rPr lang="ar-AE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4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ar-AE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ar-AE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sz="14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1400">
                                      <a:latin typeface="Cambria Math" panose="02040503050406030204" pitchFamily="18" charset="0"/>
                                    </a:rPr>
                                    <m:t>Γ</m:t>
                                  </m:r>
                                </m:e>
                                <m:sub>
                                  <m: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func>
                            <m:func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tr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1400" b="1">
                                          <a:latin typeface="Cambria Math" panose="02040503050406030204" pitchFamily="18" charset="0"/>
                                        </a:rPr>
                                        <m:t>𝐁</m:t>
                                      </m:r>
                                    </m:e>
                                    <m:sub>
                                      <m:r>
                                        <a:rPr lang="ar-AE" sz="1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ar-AE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1400" b="1">
                                          <a:latin typeface="Cambria Math" panose="02040503050406030204" pitchFamily="18" charset="0"/>
                                        </a:rPr>
                                        <m:t>𝐓</m:t>
                                      </m:r>
                                    </m:e>
                                    <m:sub>
                                      <m:r>
                                        <a:rPr lang="ar-AE" sz="1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1400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  <m:sub>
                              <m:r>
                                <a:rPr lang="ar-AE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tr</m:t>
                          </m:r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400" b="1">
                                      <a:latin typeface="Cambria Math" panose="02040503050406030204" pitchFamily="18" charset="0"/>
                                    </a:rPr>
                                    <m:t>𝐁</m:t>
                                  </m:r>
                                </m:e>
                                <m:sub>
                                  <m: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nary>
                                <m:naryPr>
                                  <m:chr m:val="∑"/>
                                  <m:grow m:val="on"/>
                                  <m:ctrlP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ar-AE" sz="140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ar-AE" sz="1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ar-AE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1400" b="1">
                                          <a:latin typeface="Cambria Math" panose="02040503050406030204" pitchFamily="18" charset="0"/>
                                        </a:rPr>
                                        <m:t>𝐓</m:t>
                                      </m:r>
                                    </m:e>
                                    <m:sub>
                                      <m:r>
                                        <a:rPr lang="ar-AE" sz="1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  <m:e/>
                        <m:e/>
                      </m:mr>
                    </m:m>
                  </m:oMath>
                </a14:m>
                <a:r>
                  <a:rPr lang="en-US" b="0" dirty="0"/>
                  <a:t>                                                 (24)</a:t>
                </a:r>
                <a:endParaRPr lang="ar-AE" b="0" dirty="0"/>
              </a:p>
              <a:p>
                <a:pPr lvl="1"/>
                <a:r>
                  <a:rPr lang="en-US" dirty="0"/>
                  <a:t>Then the penalty becomes</a:t>
                </a:r>
              </a:p>
              <a:p>
                <a:pPr lvl="2"/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  <m:e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𝜆</m:t>
                          </m:r>
                          <m:d>
                            <m:dPr>
                              <m:ctrlPr>
                                <a:rPr lang="ar-AE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400" b="1" i="1">
                                  <a:latin typeface="Cambria Math" panose="02040503050406030204" pitchFamily="18" charset="0"/>
                                </a:rPr>
                                <m:t>𝜶</m:t>
                              </m:r>
                            </m:e>
                          </m:d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grow m:val="on"/>
                              <m:ctrlPr>
                                <a:rPr lang="ar-AE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ar-AE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ar-AE" sz="140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ar-AE" sz="1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ar-AE" sz="14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r>
                                <a:rPr lang="ar-AE" sz="14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nary>
                          <m:d>
                            <m:dPr>
                              <m:begChr m:val=""/>
                              <m:endChr m:val=""/>
                              <m:ctrlPr>
                                <a:rPr lang="ar-AE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ar-AE" sz="14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1400">
                                      <a:latin typeface="Cambria Math" panose="02040503050406030204" pitchFamily="18" charset="0"/>
                                    </a:rPr>
                                    <m:t>Γ</m:t>
                                  </m:r>
                                </m:e>
                                <m:sub>
                                  <m: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ar-AE" sz="140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endChr m:val=""/>
                                      <m:ctrlPr>
                                        <a:rPr lang="ar-AE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sz="140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ar-AE" sz="1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ar-AE" sz="1400">
                                  <a:latin typeface="Cambria Math" panose="02040503050406030204" pitchFamily="18" charset="0"/>
                                </a:rPr>
                                <m:t>=∥</m:t>
                              </m:r>
                              <m:r>
                                <a:rPr lang="ar-AE" sz="1400" b="1" i="1">
                                  <a:latin typeface="Cambria Math" panose="02040503050406030204" pitchFamily="18" charset="0"/>
                                </a:rPr>
                                <m:t>𝜶</m:t>
                              </m:r>
                              <m:r>
                                <a:rPr lang="ar-AE" sz="14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ar-AE" sz="140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ar-AE" sz="1400" b="1">
                                  <a:latin typeface="Cambria Math" panose="02040503050406030204" pitchFamily="18" charset="0"/>
                                </a:rPr>
                                <m:t>𝚪</m:t>
                              </m:r>
                              <m:sSup>
                                <m:sSupPr>
                                  <m:ctrlPr>
                                    <a:rPr lang="ar-AE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sz="140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e>
                                <m:sup>
                                  <m:r>
                                    <a:rPr lang="ar-AE" sz="1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e/>
                        <m:e/>
                      </m:mr>
                    </m:m>
                  </m:oMath>
                </a14:m>
                <a:r>
                  <a:rPr lang="en-US" b="0" dirty="0"/>
                  <a:t>                                                          (23)</a:t>
                </a:r>
                <a:endParaRPr lang="ar-AE" b="0" dirty="0"/>
              </a:p>
              <a:p>
                <a:pPr lvl="1"/>
                <a:r>
                  <a:rPr lang="en-US" dirty="0"/>
                  <a:t>penalizes the total SINR mismatch across all users </a:t>
                </a:r>
              </a:p>
              <a:p>
                <a:pPr lvl="1"/>
                <a:r>
                  <a:rPr lang="en-US" dirty="0"/>
                  <a:t>encourages all users to stay close to their target SINR values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50CBFD-9913-F706-91E9-A2FE718700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278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364B35-C0AB-E1EA-8152-FF419A6F7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30626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C7107-C544-B426-7C9F-83320C07E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36F641-82F4-9A45-B399-7A489F3272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Max Penalty for Fairness</a:t>
                </a:r>
              </a:p>
              <a:p>
                <a:pPr lvl="1"/>
                <a:r>
                  <a:rPr lang="en-US" dirty="0"/>
                  <a:t>To improve fairness among users, the paper also considers maximizing the minimum SINR: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func>
                      </m:e>
                    </m:func>
                  </m:oMath>
                </a14:m>
                <a:r>
                  <a:rPr lang="en-US" b="0" dirty="0"/>
                  <a:t>                                                                                                      (25)</a:t>
                </a:r>
                <a:endParaRPr lang="ar-AE" b="0" dirty="0"/>
              </a:p>
              <a:p>
                <a:pPr lvl="1"/>
                <a:r>
                  <a:rPr lang="en-US" dirty="0"/>
                  <a:t>This is equivalent to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arg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func>
                      </m:e>
                    </m:func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arg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lim>
                            </m:limLow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func>
                      </m:e>
                    </m:func>
                  </m:oMath>
                </a14:m>
                <a:r>
                  <a:rPr lang="en-US" b="0" dirty="0"/>
                  <a:t>                                                               (26)</a:t>
                </a:r>
                <a:endParaRPr lang="ar-AE" b="0" dirty="0"/>
              </a:p>
              <a:p>
                <a:pPr lvl="1"/>
                <a:r>
                  <a:rPr lang="en-US" dirty="0"/>
                  <a:t>Based on this, the fairness-based penalty is defined as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,……,−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                                                                           (27)</a:t>
                </a:r>
                <a:endParaRPr lang="ar-AE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Interpretation:</a:t>
                </a:r>
              </a:p>
              <a:p>
                <a:pPr lvl="2"/>
                <a:r>
                  <a:rPr lang="en-US" dirty="0"/>
                  <a:t>focuses on the </a:t>
                </a:r>
                <a:r>
                  <a:rPr lang="en-US" dirty="0">
                    <a:solidFill>
                      <a:srgbClr val="7030A0"/>
                    </a:solidFill>
                  </a:rPr>
                  <a:t>worst user </a:t>
                </a:r>
              </a:p>
              <a:p>
                <a:pPr lvl="2"/>
                <a:r>
                  <a:rPr lang="en-US" dirty="0"/>
                  <a:t>improves fairness across downlink users </a:t>
                </a:r>
              </a:p>
              <a:p>
                <a:pPr lvl="2"/>
                <a:r>
                  <a:rPr lang="en-US" dirty="0"/>
                  <a:t>unlike the sum-square penalty, this penalty emphasizes the minimum user performance 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Key difference:</a:t>
                </a:r>
              </a:p>
              <a:p>
                <a:pPr lvl="2"/>
                <a:r>
                  <a:rPr lang="en-US" dirty="0">
                    <a:solidFill>
                      <a:srgbClr val="002060"/>
                    </a:solidFill>
                  </a:rPr>
                  <a:t>Sum-square penalty: </a:t>
                </a:r>
                <a:r>
                  <a:rPr lang="en-US" dirty="0"/>
                  <a:t>reduces total SINR mismatch </a:t>
                </a:r>
              </a:p>
              <a:p>
                <a:pPr lvl="2"/>
                <a:r>
                  <a:rPr lang="en-US" dirty="0">
                    <a:solidFill>
                      <a:srgbClr val="002060"/>
                    </a:solidFill>
                  </a:rPr>
                  <a:t>Max penalty: </a:t>
                </a:r>
                <a:r>
                  <a:rPr lang="en-US" dirty="0"/>
                  <a:t>improves the worst-user SINR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36F641-82F4-9A45-B399-7A489F3272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E1DEDB-337F-2B9C-07B4-E017BCFE7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17759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6A9D9-4A87-EA35-011C-A5137F98F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Beamforming Optimization on The Manifold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01D737-F761-F65C-21F5-02C8E7BE06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Preliminaries on Riemannian Manifold Optimization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And beside or below it, keep only these key points:</a:t>
                </a:r>
              </a:p>
              <a:p>
                <a:pPr lvl="1"/>
                <a:r>
                  <a:rPr lang="en-US" dirty="0"/>
                  <a:t>A manifold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is a curved feasible set </a:t>
                </a:r>
              </a:p>
              <a:p>
                <a:pPr lvl="1"/>
                <a:r>
                  <a:rPr lang="en-US" dirty="0"/>
                  <a:t>At a point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, the tangent space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Euclidean gradient is projected onto the tangent space: 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grad</m:t>
                    </m:r>
                    <m:r>
                      <m:rPr>
                        <m:nor/>
                      </m:rPr>
                      <a:rPr lang="en-US" i="1"/>
                      <m:t>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Proj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ar-AE">
                        <a:latin typeface="Cambria Math" panose="02040503050406030204" pitchFamily="18" charset="0"/>
                      </a:rPr>
                      <m:t>∇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</m:acc>
                    <m:d>
                      <m:d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The next point is obtained by retraction: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̃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01D737-F761-F65C-21F5-02C8E7BE06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94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F2FB6F-390F-5C73-F55F-EFE619A8E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474677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34</a:t>
            </a:fld>
            <a:endParaRPr lang="ko-KR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B47DA8-C005-F522-1822-C2241BC6EC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1799" y="2049276"/>
            <a:ext cx="2894028" cy="19555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C96DB8-DCBA-6B1A-F0B1-BB7383A2B1D7}"/>
              </a:ext>
            </a:extLst>
          </p:cNvPr>
          <p:cNvSpPr txBox="1"/>
          <p:nvPr/>
        </p:nvSpPr>
        <p:spPr>
          <a:xfrm>
            <a:off x="2111604" y="3864991"/>
            <a:ext cx="5580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Fig. 2. </a:t>
            </a:r>
            <a:r>
              <a:rPr lang="en-US" dirty="0">
                <a:solidFill>
                  <a:srgbClr val="7030A0"/>
                </a:solidFill>
              </a:rPr>
              <a:t>Riemannian conjugate gradient algorithm</a:t>
            </a:r>
          </a:p>
        </p:txBody>
      </p:sp>
    </p:spTree>
    <p:extLst>
      <p:ext uri="{BB962C8B-B14F-4D97-AF65-F5344CB8AC3E}">
        <p14:creationId xmlns:p14="http://schemas.microsoft.com/office/powerpoint/2010/main" val="16337141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0D4F1-7CBB-9349-04E4-C100FBFB5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Beamforming Optimization on The Manifold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DB29B1-2B01-668B-7C5D-810134A46F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08838" y="1649691"/>
                <a:ext cx="10515600" cy="4527272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Beamforming Under Total Power Constraint </a:t>
                </a:r>
              </a:p>
              <a:p>
                <a:pPr lvl="1"/>
                <a:r>
                  <a:rPr lang="en-US" dirty="0"/>
                  <a:t>Define beamforming matrix:</a:t>
                </a: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𝐓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𝐭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𝐭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,……,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𝐭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ℂ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Total transmit power:</a:t>
                </a:r>
              </a:p>
              <a:p>
                <a:pPr lvl="2"/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=∥</m:t>
                          </m:r>
                          <m:acc>
                            <m:accPr>
                              <m:chr m:val="̃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𝐓</m:t>
                              </m:r>
                            </m:e>
                          </m:acc>
                          <m:sSubSup>
                            <m:sSubSupPr>
                              <m:ctrlPr>
                                <a:rPr lang="ar-AE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tr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⁡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̃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ar-AE" b="1">
                                      <a:latin typeface="Cambria Math" panose="02040503050406030204" pitchFamily="18" charset="0"/>
                                    </a:rPr>
                                    <m:t>𝐓</m:t>
                                  </m:r>
                                </m:e>
                              </m:acc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ar-AE" b="1">
                                          <a:latin typeface="Cambria Math" panose="02040503050406030204" pitchFamily="18" charset="0"/>
                                        </a:rPr>
                                        <m:t>𝐓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p>
                              </m:sSup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  <m:e/>
                        <m:e/>
                      </m:mr>
                    </m:m>
                  </m:oMath>
                </a14:m>
                <a:r>
                  <a:rPr lang="en-US" b="0" dirty="0"/>
                  <a:t>                                                          (30)</a:t>
                </a:r>
                <a:endParaRPr lang="ar-AE" b="0" dirty="0"/>
              </a:p>
              <a:p>
                <a:pPr lvl="1"/>
                <a:r>
                  <a:rPr lang="en-US" dirty="0"/>
                  <a:t>Key idea:</a:t>
                </a:r>
              </a:p>
              <a:p>
                <a:pPr lvl="2"/>
                <a:r>
                  <a:rPr lang="en-US" dirty="0"/>
                  <a:t>Replace </a:t>
                </a:r>
                <a:r>
                  <a:rPr lang="en-US" dirty="0">
                    <a:solidFill>
                      <a:srgbClr val="7030A0"/>
                    </a:solidFill>
                  </a:rPr>
                  <a:t>per-antenna constraint </a:t>
                </a:r>
                <a:r>
                  <a:rPr lang="en-US" dirty="0"/>
                  <a:t>with </a:t>
                </a:r>
                <a:r>
                  <a:rPr lang="en-US" dirty="0">
                    <a:solidFill>
                      <a:srgbClr val="7030A0"/>
                    </a:solidFill>
                  </a:rPr>
                  <a:t>total power constraint </a:t>
                </a:r>
              </a:p>
              <a:p>
                <a:pPr lvl="2"/>
                <a:r>
                  <a:rPr lang="en-US" dirty="0"/>
                  <a:t>This simplifies the feasible region </a:t>
                </a:r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Important: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diag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ar-AE" b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DB29B1-2B01-668B-7C5D-810134A46F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08838" y="1649691"/>
                <a:ext cx="10515600" cy="4527272"/>
              </a:xfrm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993567-E417-3F93-9DCF-44562B182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96083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56045-A8A5-F6BB-66DD-D7AFF0525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Beamforming Optimization on The Manifold</a:t>
            </a:r>
            <a:endParaRPr lang="en-US" b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BA620F-C63F-13DE-87F2-5C821CB115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Problem Reformulation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Weighted Optimization Problem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acc>
                              <m:accPr>
                                <m:chr m:val="̃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acc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0">
                                        <a:latin typeface="Cambria Math" panose="02040503050406030204" pitchFamily="18" charset="0"/>
                                      </a:rPr>
                                      <m:t>𝐓</m:t>
                                    </m:r>
                                  </m:e>
                                </m:acc>
                                <m:sSup>
                                  <m:sSup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b="1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1" i="1" dirty="0">
                                            <a:latin typeface="Cambria Math" panose="02040503050406030204" pitchFamily="18" charset="0"/>
                                          </a:rPr>
                                          <m:t>𝑻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sup>
                                </m:sSup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0" dirty="0"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</m:d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ar-AE" i="1"/>
                      <m:t>  </m:t>
                    </m:r>
                  </m:oMath>
                </a14:m>
                <a:endParaRPr lang="ar-AE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Subject to: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̃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𝐓</m:t>
                                </m:r>
                              </m:e>
                            </m:acc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rad>
                  </m:oMath>
                </a14:m>
                <a:r>
                  <a:rPr lang="en-US" b="0" dirty="0"/>
                  <a:t>                                                                                                                     (31)</a:t>
                </a:r>
                <a:br>
                  <a:rPr lang="ar-AE" dirty="0"/>
                </a:br>
                <a:endParaRPr lang="ar-AE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Reformulated as manifold problem: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acc>
                              <m:accPr>
                                <m:chr m:val="̃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acc>
                            <m: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̃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acc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func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̃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acc>
                            <m:sSup>
                              <m:sSup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                                                                            (32)</a:t>
                </a:r>
                <a:endParaRPr lang="ar-AE" b="0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̃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̃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𝐓</m:t>
                                </m:r>
                              </m:e>
                            </m:acc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 } </m:t>
                    </m:r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 This is a </a:t>
                </a:r>
                <a:r>
                  <a:rPr lang="en-US" dirty="0">
                    <a:solidFill>
                      <a:srgbClr val="0070C0"/>
                    </a:solidFill>
                  </a:rPr>
                  <a:t>complex hypersphere manifold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BA620F-C63F-13DE-87F2-5C821CB115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6487B5-7F9F-6359-E0B5-6D306295C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22725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5466A-514E-B2D9-9576-6AB7C2B70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Beamforming Optimization on The Manifold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BF6955-FD64-E544-1C85-E3B24D9DB5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Alternative Objective (Max Penalty)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acc>
                              <m:accPr>
                                <m:chr m:val="̃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𝐓</m:t>
                                </m:r>
                              </m:e>
                            </m:acc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̃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𝐓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̃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𝐓</m:t>
                                </m:r>
                              </m:e>
                            </m:acc>
                            <m:sSup>
                              <m:sSup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0" dirty="0" smtClean="0">
                                        <a:latin typeface="Cambria Math" panose="02040503050406030204" pitchFamily="18" charset="0"/>
                                      </a:rPr>
                                      <m:t>𝐓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0" dirty="0" smtClean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𝛂</m:t>
                        </m:r>
                      </m:e>
                    </m:d>
                  </m:oMath>
                </a14:m>
                <a:r>
                  <a:rPr lang="en-US" b="0" dirty="0"/>
                  <a:t>                                                                     (33)</a:t>
                </a:r>
                <a:endParaRPr lang="ar-AE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Issue: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r>
                  <a:rPr lang="en-US" dirty="0"/>
                  <a:t>is </a:t>
                </a:r>
                <a:r>
                  <a:rPr lang="en-US" dirty="0">
                    <a:solidFill>
                      <a:srgbClr val="002060"/>
                    </a:solidFill>
                  </a:rPr>
                  <a:t>non-smooth 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Solution: log-sum-exp approximation</a:t>
                </a:r>
              </a:p>
              <a:p>
                <a:pPr lvl="2"/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𝑙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b="1" i="1">
                                  <a:latin typeface="Cambria Math" panose="02040503050406030204" pitchFamily="18" charset="0"/>
                                </a:rPr>
                                <m:t>𝜶</m:t>
                              </m:r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≤</m:t>
                          </m:r>
                          <m:acc>
                            <m:accPr>
                              <m:chr m:val="̂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b="1" i="1">
                                  <a:latin typeface="Cambria Math" panose="02040503050406030204" pitchFamily="18" charset="0"/>
                                </a:rPr>
                                <m:t>𝜶</m:t>
                              </m:r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𝜖</m:t>
                          </m:r>
                          <m:func>
                            <m:func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begChr m:val="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func>
                                    <m:func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nary>
                                        <m:naryPr>
                                          <m:chr m:val="∑"/>
                                          <m:grow m:val="on"/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ar-AE">
                                              <a:latin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r>
                                            <a:rPr lang="ar-AE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sup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exp</m:t>
                                          </m:r>
                                        </m:e>
                                      </m:nary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ctrlP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b>
                                                <m:sSubPr>
                                                  <m:ctrlPr>
                                                    <a:rPr lang="ar-AE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ar-AE" i="1">
                                                      <a:latin typeface="Cambria Math" panose="02040503050406030204" pitchFamily="18" charset="0"/>
                                                    </a:rPr>
                                                    <m:t>𝛼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ar-AE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  <m:t>𝜖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</m:e>
                          </m:func>
                        </m:e>
                        <m:e/>
                        <m:e/>
                      </m:mr>
                    </m:m>
                  </m:oMath>
                </a14:m>
                <a:r>
                  <a:rPr lang="en-US" b="0" dirty="0"/>
                  <a:t>                                                                 (40)</a:t>
                </a:r>
              </a:p>
              <a:p>
                <a:r>
                  <a:rPr lang="en-US" dirty="0">
                    <a:solidFill>
                      <a:srgbClr val="0000FF"/>
                    </a:solidFill>
                  </a:rPr>
                  <a:t>Euclidean Gradient</a:t>
                </a:r>
              </a:p>
              <a:p>
                <a:pPr lvl="1"/>
                <a:r>
                  <a:rPr lang="en-US" dirty="0"/>
                  <a:t>Gradient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  <m:e>
                          <m:r>
                            <m:rPr>
                              <m:sty m:val="p"/>
                            </m:rPr>
                            <a:rPr lang="ar-AE">
                              <a:latin typeface="Cambria Math" panose="02040503050406030204" pitchFamily="18" charset="0"/>
                            </a:rPr>
                            <m:t>∇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̃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ar-AE" b="1">
                                      <a:latin typeface="Cambria Math" panose="02040503050406030204" pitchFamily="18" charset="0"/>
                                    </a:rPr>
                                    <m:t>𝐓</m:t>
                                  </m:r>
                                </m:e>
                              </m:acc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4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̃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ar-AE" b="1">
                                      <a:latin typeface="Cambria Math" panose="02040503050406030204" pitchFamily="18" charset="0"/>
                                    </a:rPr>
                                    <m:t>𝐓</m:t>
                                  </m:r>
                                </m:e>
                              </m:acc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ar-AE" b="1">
                                          <a:latin typeface="Cambria Math" panose="02040503050406030204" pitchFamily="18" charset="0"/>
                                        </a:rPr>
                                        <m:t>𝐓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p>
                              </m:s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𝐑</m:t>
                              </m:r>
                            </m:e>
                          </m:d>
                          <m:acc>
                            <m:accPr>
                              <m:chr m:val="̃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𝐓</m:t>
                              </m:r>
                            </m:e>
                          </m:acc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4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nary>
                            <m:naryPr>
                              <m:chr m:val="∑"/>
                              <m:grow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𝐆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/>
                        <m:e/>
                      </m:mr>
                    </m:m>
                  </m:oMath>
                </a14:m>
                <a:r>
                  <a:rPr lang="en-US" dirty="0"/>
                  <a:t>                                                (35)</a:t>
                </a:r>
                <a:endParaRPr lang="ar-AE" dirty="0"/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Where:</a:t>
                </a:r>
              </a:p>
              <a:p>
                <a:pPr lvl="2"/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>
                                      <a:latin typeface="Cambria Math" panose="02040503050406030204" pitchFamily="18" charset="0"/>
                                    </a:rPr>
                                    <m:t>Γ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tr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⁡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1">
                                      <a:latin typeface="Cambria Math" panose="02040503050406030204" pitchFamily="18" charset="0"/>
                                    </a:rPr>
                                    <m:t>𝐁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1">
                                      <a:latin typeface="Cambria Math" panose="02040503050406030204" pitchFamily="18" charset="0"/>
                                    </a:rPr>
                                    <m:t>𝐭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ar-AE" b="1">
                                      <a:latin typeface="Cambria Math" panose="02040503050406030204" pitchFamily="18" charset="0"/>
                                    </a:rPr>
                                    <m:t>𝐭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p>
                              </m:sSubSup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tr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⁡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1">
                                      <a:latin typeface="Cambria Math" panose="02040503050406030204" pitchFamily="18" charset="0"/>
                                    </a:rPr>
                                    <m:t>𝐁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acc>
                                <m:accPr>
                                  <m:chr m:val="̃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ar-AE" b="1">
                                      <a:latin typeface="Cambria Math" panose="02040503050406030204" pitchFamily="18" charset="0"/>
                                    </a:rPr>
                                    <m:t>𝐓</m:t>
                                  </m:r>
                                </m:e>
                              </m:acc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ar-AE" b="1">
                                          <a:latin typeface="Cambria Math" panose="02040503050406030204" pitchFamily="18" charset="0"/>
                                        </a:rPr>
                                        <m:t>𝐓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p>
                              </m:sSup>
                            </m:e>
                          </m:d>
                        </m:e>
                        <m:e/>
                        <m:e/>
                      </m:mr>
                    </m:m>
                  </m:oMath>
                </a14:m>
                <a:r>
                  <a:rPr lang="en-US" b="0" dirty="0"/>
                  <a:t>                                                              (36)</a:t>
                </a:r>
                <a:endParaRPr lang="ar-AE" b="0" dirty="0"/>
              </a:p>
              <a:p>
                <a:pPr lvl="2"/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  <m:e>
                          <m:sSub>
                            <m:sSubPr>
                              <m:ctrlPr>
                                <a:rPr lang="ar-AE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𝐆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𝐁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>
                                          <a:latin typeface="Cambria Math" panose="02040503050406030204" pitchFamily="18" charset="0"/>
                                        </a:rPr>
                                        <m:t>Γ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1">
                                      <a:latin typeface="Cambria Math" panose="02040503050406030204" pitchFamily="18" charset="0"/>
                                    </a:rPr>
                                    <m:t>𝐭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ar-AE" b="1">
                                      <a:latin typeface="Cambria Math" panose="02040503050406030204" pitchFamily="18" charset="0"/>
                                    </a:rPr>
                                    <m:t>𝐞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>
                                      <a:latin typeface="Cambria Math" panose="02040503050406030204" pitchFamily="18" charset="0"/>
                                    </a:rPr>
                                    <m:t>Γ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acc>
                                <m:accPr>
                                  <m:chr m:val="̃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ar-AE" b="1">
                                      <a:latin typeface="Cambria Math" panose="02040503050406030204" pitchFamily="18" charset="0"/>
                                    </a:rPr>
                                    <m:t>𝐓</m:t>
                                  </m:r>
                                </m:e>
                              </m:acc>
                            </m:e>
                          </m:d>
                        </m:e>
                        <m:e/>
                        <m:e/>
                      </m:mr>
                    </m:m>
                  </m:oMath>
                </a14:m>
                <a:r>
                  <a:rPr lang="en-US" b="1" dirty="0"/>
                  <a:t>                                                                             </a:t>
                </a:r>
                <a:r>
                  <a:rPr lang="en-US" dirty="0"/>
                  <a:t>(37)</a:t>
                </a:r>
                <a:endParaRPr lang="ar-AE" dirty="0"/>
              </a:p>
              <a:p>
                <a:endParaRPr lang="ar-AE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BF6955-FD64-E544-1C85-E3B24D9DB5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435B6C-0B16-EAF4-0B9F-8336F4366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3436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19578-78DC-0957-EEC8-E82CADE04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Beamforming Optimization on The Manifold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226414-42F0-DEBE-CA8A-AE2888E9C9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Tangent Space + Riemannian Gradient</a:t>
                </a:r>
              </a:p>
              <a:p>
                <a:pPr lvl="1"/>
                <a:r>
                  <a:rPr lang="en-US" dirty="0"/>
                  <a:t>Riemannian Gradient</a:t>
                </a:r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Tangent space of hypersphere:</a:t>
                </a:r>
              </a:p>
              <a:p>
                <a:pPr lvl="2"/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acc>
                                <m:accPr>
                                  <m:chr m:val="̃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ar-AE" b="1">
                                      <a:latin typeface="Cambria Math" panose="02040503050406030204" pitchFamily="18" charset="0"/>
                                    </a:rPr>
                                    <m:t>𝐓</m:t>
                                  </m:r>
                                </m:e>
                              </m:acc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𝐅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func>
                                <m:func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Re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tr</m:t>
                                      </m:r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⁡</m:t>
                                      </m:r>
                                      <m:d>
                                        <m:d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acc>
                                                <m:accPr>
                                                  <m:chr m:val="̃"/>
                                                  <m:ctrlPr>
                                                    <a:rPr lang="ar-AE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ar-AE" b="1">
                                                      <a:latin typeface="Cambria Math" panose="02040503050406030204" pitchFamily="18" charset="0"/>
                                                    </a:rPr>
                                                    <m:t>𝐓</m:t>
                                                  </m:r>
                                                </m:e>
                                              </m:acc>
                                            </m:e>
                                            <m:sup>
                                              <m: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  <m:t>𝐻</m:t>
                                              </m:r>
                                            </m:sup>
                                          </m:sSup>
                                          <m:r>
                                            <a:rPr lang="ar-AE" b="1">
                                              <a:latin typeface="Cambria Math" panose="02040503050406030204" pitchFamily="18" charset="0"/>
                                            </a:rPr>
                                            <m:t>𝐅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  <m:e/>
                        <m:e/>
                      </m:mr>
                    </m:m>
                  </m:oMath>
                </a14:m>
                <a:r>
                  <a:rPr lang="en-US" dirty="0"/>
                  <a:t>                                                       (38)</a:t>
                </a:r>
                <a:br>
                  <a:rPr lang="ar-AE" dirty="0"/>
                </a:br>
                <a:endParaRPr lang="ar-AE" dirty="0"/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Riemannian gradient:</a:t>
                </a:r>
              </a:p>
              <a:p>
                <a:pPr lvl="3"/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  <m:e>
                          <m:func>
                            <m:func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grad</m:t>
                              </m:r>
                            </m:fName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func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̃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ar-AE" b="1">
                                      <a:latin typeface="Cambria Math" panose="02040503050406030204" pitchFamily="18" charset="0"/>
                                    </a:rPr>
                                    <m:t>𝐓</m:t>
                                  </m:r>
                                </m:e>
                              </m:acc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ar-AE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̃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ar-AE" b="1">
                                      <a:latin typeface="Cambria Math" panose="02040503050406030204" pitchFamily="18" charset="0"/>
                                    </a:rPr>
                                    <m:t>𝐓</m:t>
                                  </m:r>
                                </m:e>
                              </m:acc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Re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tr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⁡</m:t>
                                  </m:r>
                                  <m:d>
                                    <m:d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acc>
                                            <m:accPr>
                                              <m:chr m:val="̃"/>
                                              <m:ctrlP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ar-AE" b="1">
                                                  <a:latin typeface="Cambria Math" panose="02040503050406030204" pitchFamily="18" charset="0"/>
                                                </a:rPr>
                                                <m:t>𝐓</m:t>
                                              </m:r>
                                            </m:e>
                                          </m:acc>
                                        </m:e>
                                        <m:sup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sup>
                                      </m:sSup>
                                      <m:r>
                                        <m:rPr>
                                          <m:sty m:val="p"/>
                                        </m:rP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∇</m:t>
                                      </m:r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d>
                                        <m:d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̃"/>
                                              <m:ctrlP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ar-AE" b="1">
                                                  <a:latin typeface="Cambria Math" panose="02040503050406030204" pitchFamily="18" charset="0"/>
                                                </a:rPr>
                                                <m:t>𝐓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</m:func>
                          <m:acc>
                            <m:accPr>
                              <m:chr m:val="̃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𝐓</m:t>
                              </m:r>
                            </m:e>
                          </m:acc>
                        </m:e>
                        <m:e/>
                        <m:e/>
                      </m:mr>
                    </m:m>
                  </m:oMath>
                </a14:m>
                <a:r>
                  <a:rPr lang="en-US" b="0" dirty="0"/>
                  <a:t>                              (39)</a:t>
                </a:r>
                <a:endParaRPr lang="ar-AE" b="0" dirty="0"/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mtClean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n-US" b="0"/>
                      <m:t>rojection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r>
                      <m:rPr>
                        <m:nor/>
                      </m:rPr>
                      <a:rPr lang="en-US" b="0"/>
                      <m:t>onto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tangent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space</m:t>
                    </m:r>
                  </m:oMath>
                </a14:m>
                <a:endParaRPr lang="en-US" b="0" dirty="0"/>
              </a:p>
              <a:p>
                <a:r>
                  <a:rPr lang="en-US" dirty="0">
                    <a:solidFill>
                      <a:srgbClr val="0000FF"/>
                    </a:solidFill>
                  </a:rPr>
                  <a:t>Riemannian Conjugate Gradient (RCG)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Update:</a:t>
                </a:r>
              </a:p>
              <a:p>
                <a:pPr lvl="2"/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  <m:e>
                          <m:sSub>
                            <m:sSubPr>
                              <m:ctrlPr>
                                <a:rPr lang="ar-AE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ar-AE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ar-AE" b="1">
                                      <a:latin typeface="Cambria Math" panose="02040503050406030204" pitchFamily="18" charset="0"/>
                                    </a:rPr>
                                    <m:t>𝐓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ar-AE" b="1">
                                      <a:latin typeface="Cambria Math" panose="02040503050406030204" pitchFamily="18" charset="0"/>
                                    </a:rPr>
                                    <m:t>𝐓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𝚷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/>
                        <m:e/>
                      </m:mr>
                    </m:m>
                  </m:oMath>
                </a14:m>
                <a:r>
                  <a:rPr lang="en-US" b="1" dirty="0"/>
                  <a:t>                                                                           </a:t>
                </a:r>
                <a:r>
                  <a:rPr lang="en-US" dirty="0"/>
                  <a:t>(44)</a:t>
                </a:r>
                <a:endParaRPr lang="ar-AE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Direction:</a:t>
                </a:r>
              </a:p>
              <a:p>
                <a:pPr lvl="2"/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  <m:e>
                          <m:sSub>
                            <m:sSubPr>
                              <m:ctrlPr>
                                <a:rPr lang="ar-AE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𝚷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=−</m:t>
                          </m:r>
                          <m:r>
                            <m:rPr>
                              <m:sty m:val="p"/>
                            </m:rPr>
                            <a:rPr lang="ar-AE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ar-AE" b="1">
                                          <a:latin typeface="Cambria Math" panose="02040503050406030204" pitchFamily="18" charset="0"/>
                                        </a:rPr>
                                        <m:t>𝐓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𝚷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/>
                        <m:e/>
                      </m:mr>
                    </m:m>
                  </m:oMath>
                </a14:m>
                <a:r>
                  <a:rPr lang="en-US" dirty="0"/>
                  <a:t>                                                                (45)</a:t>
                </a:r>
                <a:endParaRPr lang="ar-AE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Polak–</a:t>
                </a:r>
                <a:r>
                  <a:rPr lang="en-US" dirty="0" err="1">
                    <a:solidFill>
                      <a:srgbClr val="7030A0"/>
                    </a:solidFill>
                  </a:rPr>
                  <a:t>Ribiere</a:t>
                </a:r>
                <a:r>
                  <a:rPr lang="en-US" dirty="0">
                    <a:solidFill>
                      <a:srgbClr val="7030A0"/>
                    </a:solidFill>
                  </a:rPr>
                  <a:t> Parameter: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/>
                          <m:t>⟨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nor/>
                          </m:rPr>
                          <a:rPr lang="en-US"/>
                          <m:t>⟩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/>
                          <m:t>⟨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nor/>
                          </m:rPr>
                          <a:rPr lang="en-US"/>
                          <m:t>⟩</m:t>
                        </m:r>
                      </m:den>
                    </m:f>
                    <m:m>
                      <m:mPr>
                        <m:plcHide m:val="on"/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  <m:e/>
                        <m:e/>
                        <m:e/>
                      </m:mr>
                    </m:m>
                  </m:oMath>
                </a14:m>
                <a:r>
                  <a:rPr lang="en-US" b="0" dirty="0"/>
                  <a:t>                                                                    (46)</a:t>
                </a:r>
                <a:endParaRPr lang="ar-AE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226414-42F0-DEBE-CA8A-AE2888E9C9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13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052F58-E169-2A2D-BE42-8D0DB13CD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8172" y="6356350"/>
            <a:ext cx="658537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38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84306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1D863-9E4A-DE06-56BA-C5DD995DD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Beamforming Optimization on The Manifold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E5A796-332C-B7C5-30A7-5371E04FBB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Retraction Step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After update, project back to manifold:</a:t>
                </a:r>
              </a:p>
              <a:p>
                <a:pPr lvl="2"/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  <m:e>
                          <m:sSub>
                            <m:sSubPr>
                              <m:ctrlPr>
                                <a:rPr lang="ar-AE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ar-AE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ar-AE" b="1">
                                      <a:latin typeface="Cambria Math" panose="02040503050406030204" pitchFamily="18" charset="0"/>
                                    </a:rPr>
                                    <m:t>𝐓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rad>
                            <m:radPr>
                              <m:degHide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rad>
                          <m:r>
                            <m:rPr>
                              <m:nor/>
                            </m:rPr>
                            <a:rPr lang="ar-AE" i="1"/>
                            <m:t>  </m:t>
                          </m:r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ar-AE" b="1">
                                          <a:latin typeface="Cambria Math" panose="02040503050406030204" pitchFamily="18" charset="0"/>
                                        </a:rPr>
                                        <m:t>𝐓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1">
                                      <a:latin typeface="Cambria Math" panose="02040503050406030204" pitchFamily="18" charset="0"/>
                                    </a:rPr>
                                    <m:t>𝚷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ar-AE" b="1">
                                          <a:latin typeface="Cambria Math" panose="02040503050406030204" pitchFamily="18" charset="0"/>
                                        </a:rPr>
                                        <m:t>𝐓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1">
                                      <a:latin typeface="Cambria Math" panose="02040503050406030204" pitchFamily="18" charset="0"/>
                                    </a:rPr>
                                    <m:t>𝚷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sub>
                              </m:sSub>
                            </m:den>
                          </m:f>
                        </m:e>
                        <m:e/>
                        <m:e/>
                      </m:mr>
                    </m:m>
                  </m:oMath>
                </a14:m>
                <a:r>
                  <a:rPr lang="en-US" b="1" dirty="0"/>
                  <a:t>                                                                                          </a:t>
                </a:r>
                <a:r>
                  <a:rPr lang="en-US" dirty="0"/>
                  <a:t>(48)</a:t>
                </a:r>
                <a:endParaRPr lang="ar-AE" dirty="0"/>
              </a:p>
              <a:p>
                <a:pPr lvl="1"/>
                <a:r>
                  <a:rPr lang="en-US" dirty="0"/>
                  <a:t> Keeps solution on hypersphere</a:t>
                </a:r>
              </a:p>
              <a:p>
                <a:pPr lvl="1"/>
                <a:r>
                  <a:rPr lang="en-US" dirty="0"/>
                  <a:t>Vector Transport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𝐓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𝑔𝑟𝑎𝑑𝑓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𝐓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𝑃𝑟𝑜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𝐓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𝑔𝑟𝑎𝑑𝑓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𝐓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dirty="0"/>
                  <a:t>                                                                      (49)</a:t>
                </a:r>
                <a:br>
                  <a:rPr lang="ar-AE" dirty="0"/>
                </a:br>
                <a:endParaRPr lang="ar-AE" dirty="0"/>
              </a:p>
              <a:p>
                <a:pPr lvl="1"/>
                <a:r>
                  <a:rPr lang="en-US" dirty="0"/>
                  <a:t>Final direction:</a:t>
                </a:r>
              </a:p>
              <a:p>
                <a:pPr lvl="2"/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  <m:e>
                          <m:sSub>
                            <m:sSubPr>
                              <m:ctrlPr>
                                <a:rPr lang="ar-AE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𝚷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=−</m:t>
                          </m:r>
                          <m:func>
                            <m:func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grad</m:t>
                              </m:r>
                            </m:fName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func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ar-AE" b="1">
                                          <a:latin typeface="Cambria Math" panose="02040503050406030204" pitchFamily="18" charset="0"/>
                                        </a:rPr>
                                        <m:t>𝐓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𝒯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ar-AE" b="1">
                                          <a:latin typeface="Cambria Math" panose="02040503050406030204" pitchFamily="18" charset="0"/>
                                        </a:rPr>
                                        <m:t>𝐓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1">
                                      <a:latin typeface="Cambria Math" panose="02040503050406030204" pitchFamily="18" charset="0"/>
                                    </a:rPr>
                                    <m:t>𝚷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e/>
                        <m:e/>
                      </m:mr>
                    </m:m>
                  </m:oMath>
                </a14:m>
                <a:r>
                  <a:rPr lang="en-US" b="1" dirty="0"/>
                  <a:t>                                                                          </a:t>
                </a:r>
                <a:r>
                  <a:rPr lang="en-US" dirty="0"/>
                  <a:t>(51)</a:t>
                </a:r>
                <a:endParaRPr lang="ar-AE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E5A796-332C-B7C5-30A7-5371E04FBB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B38DE-B173-B9AC-A331-307EABDFC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88002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FD097-F41A-8E07-7DB7-339A90153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Beamforming Optimization on The Manifold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771DBD-1A7D-154B-AC07-E6AFCBF31C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RCG Algorithm (Algorithm 2)</a:t>
                </a:r>
              </a:p>
              <a:p>
                <a:pPr lvl="1"/>
                <a:r>
                  <a:rPr lang="en-US" dirty="0"/>
                  <a:t>Initialize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𝐓</m:t>
                            </m:r>
                          </m:e>
                        </m:acc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𝒮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Set: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𝚷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grad</m:t>
                        </m:r>
                      </m:fNam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func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𝐓</m:t>
                                </m:r>
                              </m:e>
                            </m:acc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ar-AE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Repeat: </a:t>
                </a:r>
              </a:p>
              <a:p>
                <a:pPr lvl="2"/>
                <a:r>
                  <a:rPr lang="en-US" dirty="0"/>
                  <a:t>compute step size (Armijo rule) </a:t>
                </a:r>
              </a:p>
              <a:p>
                <a:pPr lvl="2"/>
                <a:r>
                  <a:rPr lang="en-US" dirty="0"/>
                  <a:t>update via retraction </a:t>
                </a:r>
              </a:p>
              <a:p>
                <a:pPr lvl="2"/>
                <a:r>
                  <a:rPr lang="en-US" dirty="0"/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update direction 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Stop when: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∥</m:t>
                    </m:r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grad</m:t>
                        </m:r>
                      </m:fNam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func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𝐓</m:t>
                            </m:r>
                          </m:e>
                        </m:acc>
                      </m:e>
                    </m:d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endParaRPr lang="el-GR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771DBD-1A7D-154B-AC07-E6AFCBF31C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8DC4C-9C1D-F49C-CC23-80C8985B7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53941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0A13D-701F-875C-3236-A0FAFE48F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Beamforming Under Per-Antenna Power Constraint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028D4A-580F-BF86-4226-DF74F756F7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Beamforming Under Per-Antenna Power Constraint </a:t>
                </a:r>
                <a:endParaRPr lang="en-US" b="1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/>
                  <a:t>In this part, the paper solves the weighted beamforming problem under </a:t>
                </a:r>
                <a:r>
                  <a:rPr lang="en-US" dirty="0">
                    <a:solidFill>
                      <a:srgbClr val="7030A0"/>
                    </a:solidFill>
                  </a:rPr>
                  <a:t>per-antenna                   equal-power constraints </a:t>
                </a:r>
              </a:p>
              <a:p>
                <a:pPr lvl="1"/>
                <a:r>
                  <a:rPr lang="en-US" dirty="0"/>
                  <a:t>This is stricter than the total power constraint </a:t>
                </a:r>
              </a:p>
              <a:p>
                <a:pPr lvl="1"/>
                <a:r>
                  <a:rPr lang="en-US" dirty="0"/>
                  <a:t>The authors define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𝐓</m:t>
                            </m:r>
                          </m:e>
                        </m:acc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Then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∥</m:t>
                    </m:r>
                    <m:acc>
                      <m:accPr>
                        <m:chr m:val="̃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𝐓</m:t>
                        </m:r>
                      </m:e>
                    </m:acc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𝐓</m:t>
                            </m:r>
                          </m:e>
                        </m:acc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b="1">
                        <a:latin typeface="Cambria Math" panose="02040503050406030204" pitchFamily="18" charset="0"/>
                      </a:rPr>
                      <m:t>𝐑</m:t>
                    </m:r>
                    <m:sSubSup>
                      <m:sSub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=∥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r>
                      <a:rPr lang="ar-AE" b="1">
                        <a:latin typeface="Cambria Math" panose="02040503050406030204" pitchFamily="18" charset="0"/>
                      </a:rPr>
                      <m:t>𝐗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b="1">
                        <a:latin typeface="Cambria Math" panose="02040503050406030204" pitchFamily="18" charset="0"/>
                      </a:rPr>
                      <m:t>𝐑</m:t>
                    </m:r>
                    <m:sSubSup>
                      <m:sSub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ar-AE" b="1" dirty="0"/>
              </a:p>
              <a:p>
                <a:pPr lvl="1"/>
                <a:r>
                  <a:rPr lang="en-US" dirty="0"/>
                  <a:t>and</a:t>
                </a:r>
              </a:p>
              <a:p>
                <a:pPr lvl="1"/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diag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⁡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̃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ar-AE" b="1">
                                      <a:latin typeface="Cambria Math" panose="02040503050406030204" pitchFamily="18" charset="0"/>
                                    </a:rPr>
                                    <m:t>𝐓</m:t>
                                  </m:r>
                                </m:e>
                              </m:acc>
                              <m:sSup>
                                <m:sSupPr>
                                  <m:ctrlPr>
                                    <a:rPr lang="ar-AE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ar-AE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ar-AE" b="1">
                                          <a:latin typeface="Cambria Math" panose="02040503050406030204" pitchFamily="18" charset="0"/>
                                        </a:rPr>
                                        <m:t>𝐓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p>
                              </m:sSup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diag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⁡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b="1">
                                      <a:latin typeface="Cambria Math" panose="02040503050406030204" pitchFamily="18" charset="0"/>
                                    </a:rPr>
                                    <m:t>𝐗</m:t>
                                  </m:r>
                                </m:e>
                                <m:sup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p>
                              </m:sSup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</m:e>
                          </m:d>
                        </m:e>
                        <m:e/>
                        <m:e/>
                      </m:mr>
                    </m:m>
                  </m:oMath>
                </a14:m>
                <a:r>
                  <a:rPr lang="en-US" b="0" dirty="0"/>
                  <a:t>                                                                 (52)</a:t>
                </a:r>
                <a:endParaRPr lang="ar-AE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Key idea:</a:t>
                </a:r>
              </a:p>
              <a:p>
                <a:pPr lvl="1"/>
                <a:r>
                  <a:rPr lang="en-US" dirty="0"/>
                  <a:t>The variable change from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𝐓</m:t>
                        </m:r>
                      </m:e>
                    </m:acc>
                  </m:oMath>
                </a14:m>
                <a:r>
                  <a:rPr lang="en-US" dirty="0"/>
                  <a:t>to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dirty="0"/>
                  <a:t>makes the per-antenna constraint easier to express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028D4A-580F-BF86-4226-DF74F756F7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r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D6686-EFA5-EF0D-D0CD-C3A27C7E1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7925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2922A-E6E8-88D6-2A7A-BE9EF7D13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Beamforming Under Per-Antenna Power Constraint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756120-5D33-A34E-1191-E06E9DBCA3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Reformulated Optimization Problem</a:t>
                </a:r>
              </a:p>
              <a:p>
                <a:pPr lvl="1"/>
                <a:r>
                  <a:rPr lang="en-US" dirty="0"/>
                  <a:t>The sum-square SINR penalty problem becomes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𝐗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sup>
                                </m:sSup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𝐗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</m:d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𝛂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ar-AE" b="0" dirty="0"/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Subject to:</a:t>
                </a:r>
              </a:p>
              <a:p>
                <a:pPr lvl="2"/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diag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⁡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b="1">
                                      <a:latin typeface="Cambria Math" panose="02040503050406030204" pitchFamily="18" charset="0"/>
                                    </a:rPr>
                                    <m:t>𝐗</m:t>
                                  </m:r>
                                </m:e>
                                <m:sup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p>
                              </m:sSup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r>
                            <a:rPr lang="ar-AE" b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e/>
                        <m:e/>
                      </m:mr>
                    </m:m>
                  </m:oMath>
                </a14:m>
                <a:r>
                  <a:rPr lang="en-US" b="0" dirty="0"/>
                  <a:t>                                                                                         (53)</a:t>
                </a:r>
                <a:endParaRPr lang="ar-AE" b="0" dirty="0"/>
              </a:p>
              <a:p>
                <a:pPr lvl="1"/>
                <a:r>
                  <a:rPr lang="en-US" dirty="0"/>
                  <a:t>In this case,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𝐗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,:</m:t>
                            </m:r>
                          </m:e>
                        </m:d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𝐗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,: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𝐗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p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</m:d>
                  </m:oMath>
                </a14:m>
                <a:r>
                  <a:rPr lang="en-US" b="0" dirty="0"/>
                  <a:t>                                                        (54)</a:t>
                </a:r>
                <a:endParaRPr lang="ar-AE" b="0" dirty="0"/>
              </a:p>
              <a:p>
                <a:pPr lvl="2"/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,:)</m:t>
                    </m:r>
                  </m:oMath>
                </a14:m>
                <a:r>
                  <a:rPr lang="en-US" dirty="0"/>
                  <a:t> denotes the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th</a:t>
                </a:r>
                <a:r>
                  <a:rPr lang="en-US" dirty="0"/>
                  <a:t> row of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Meaning:</a:t>
                </a:r>
              </a:p>
              <a:p>
                <a:pPr lvl="2"/>
                <a:r>
                  <a:rPr lang="en-US" dirty="0"/>
                  <a:t>first term = desired signal contribution </a:t>
                </a:r>
              </a:p>
              <a:p>
                <a:pPr lvl="2"/>
                <a:r>
                  <a:rPr lang="en-US" dirty="0"/>
                  <a:t>second term = total covariance contribution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756120-5D33-A34E-1191-E06E9DBCA3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DFCF1-A5A9-2BEC-5720-6EFFAD97A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06233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3A2D7-4901-77DF-09F6-649914932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Beamforming Under Per-Antenna Power Constraint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A9A940-3C2B-A732-9DB0-9E5F0159C4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Euclidean and Riemannian Gradients</a:t>
                </a:r>
              </a:p>
              <a:p>
                <a:pPr lvl="1"/>
                <a:r>
                  <a:rPr lang="en-US" dirty="0"/>
                  <a:t>Gradient Computation on the Oblique Manifold</a:t>
                </a:r>
              </a:p>
              <a:p>
                <a:pPr lvl="1"/>
                <a:r>
                  <a:rPr lang="en-US" b="1" dirty="0"/>
                  <a:t>Euclidean gradients</a:t>
                </a:r>
              </a:p>
              <a:p>
                <a:pPr lvl="1"/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  <m:e>
                          <m:r>
                            <m:rPr>
                              <m:sty m:val="p"/>
                            </m:rPr>
                            <a:rPr lang="ar-AE">
                              <a:latin typeface="Cambria Math" panose="02040503050406030204" pitchFamily="18" charset="0"/>
                            </a:rPr>
                            <m:t>∇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4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b="1">
                              <a:latin typeface="Cambria Math" panose="02040503050406030204" pitchFamily="18" charset="0"/>
                            </a:rPr>
                            <m:t>𝐗</m:t>
                          </m:r>
                          <m:d>
                            <m:dPr>
                              <m:ctrlPr>
                                <a:rPr lang="ar-AE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ar-AE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b="1">
                                      <a:latin typeface="Cambria Math" panose="02040503050406030204" pitchFamily="18" charset="0"/>
                                    </a:rPr>
                                    <m:t>𝐗</m:t>
                                  </m:r>
                                </m:e>
                                <m:sup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p>
                              </m:sSup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𝐑</m:t>
                              </m:r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4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nary>
                            <m:naryPr>
                              <m:chr m:val="∑"/>
                              <m:grow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sSubSup>
                            <m:sSub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𝐆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p>
                          </m:sSubSup>
                        </m:e>
                        <m:e/>
                        <m:e/>
                      </m:mr>
                    </m:m>
                  </m:oMath>
                </a14:m>
                <a:r>
                  <a:rPr lang="en-US" b="0" dirty="0"/>
                  <a:t>                                                      (58)</a:t>
                </a:r>
                <a:endParaRPr lang="ar-AE" b="0" dirty="0"/>
              </a:p>
              <a:p>
                <a:pPr lvl="1"/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  <m:e>
                          <m:r>
                            <m:rPr>
                              <m:sty m:val="p"/>
                            </m:rPr>
                            <a:rPr lang="ar-AE">
                              <a:latin typeface="Cambria Math" panose="02040503050406030204" pitchFamily="18" charset="0"/>
                            </a:rPr>
                            <m:t>∇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4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b="1">
                              <a:latin typeface="Cambria Math" panose="02040503050406030204" pitchFamily="18" charset="0"/>
                            </a:rPr>
                            <m:t>𝐗</m:t>
                          </m:r>
                          <m:d>
                            <m:dPr>
                              <m:ctrlPr>
                                <a:rPr lang="ar-AE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ar-AE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b="1">
                                      <a:latin typeface="Cambria Math" panose="02040503050406030204" pitchFamily="18" charset="0"/>
                                    </a:rPr>
                                    <m:t>𝐗</m:t>
                                  </m:r>
                                </m:e>
                                <m:sup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p>
                              </m:sSup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𝐑</m:t>
                              </m:r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grow m:val="on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e>
                              </m:nary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</m:d>
                              <m:sSubSup>
                                <m:sSub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ar-AE" b="1">
                                      <a:latin typeface="Cambria Math" panose="02040503050406030204" pitchFamily="18" charset="0"/>
                                    </a:rPr>
                                    <m:t>𝐆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p>
                              </m:sSubSup>
                            </m:num>
                            <m:den>
                              <m:nary>
                                <m:naryPr>
                                  <m:chr m:val="∑"/>
                                  <m:grow m:val="on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e>
                              </m:nary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</m:d>
                            </m:den>
                          </m:f>
                        </m:e>
                        <m:e/>
                        <m:e/>
                      </m:mr>
                    </m:m>
                  </m:oMath>
                </a14:m>
                <a:r>
                  <a:rPr lang="en-US" b="0" dirty="0"/>
                  <a:t>                                                (59)</a:t>
                </a:r>
                <a:endParaRPr lang="ar-AE" b="0" dirty="0"/>
              </a:p>
              <a:p>
                <a:pPr lvl="1"/>
                <a:r>
                  <a:rPr lang="en-US" b="1" dirty="0"/>
                  <a:t>Tangent space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𝑅𝑒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𝐗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sup>
                                </m:sSup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𝐅</m:t>
                                </m:r>
                              </m:e>
                            </m:d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b="0" dirty="0"/>
                  <a:t>                                                                             (60)</a:t>
                </a:r>
                <a:endParaRPr lang="ar-AE" b="0" dirty="0"/>
              </a:p>
              <a:p>
                <a:pPr lvl="1"/>
                <a:r>
                  <a:rPr lang="en-US" b="1" dirty="0"/>
                  <a:t>Riemannian gradients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grad</m:t>
                        </m:r>
                      </m:fNam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func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ar-AE"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b="1">
                        <a:latin typeface="Cambria Math" panose="02040503050406030204" pitchFamily="18" charset="0"/>
                      </a:rPr>
                      <m:t>𝐗</m:t>
                    </m:r>
                    <m:r>
                      <m:rPr>
                        <m:nor/>
                      </m:rPr>
                      <a:rPr lang="ar-AE" i="1"/>
                      <m:t> </m:t>
                    </m:r>
                    <m:r>
                      <m:rPr>
                        <m:nor/>
                      </m:rPr>
                      <a:rPr lang="en-US" b="0" smtClean="0"/>
                      <m:t>ddiag</m:t>
                    </m:r>
                    <m:r>
                      <m:rPr>
                        <m:nor/>
                      </m:rPr>
                      <a:rPr lang="en-US" b="0" i="0" smtClean="0"/>
                      <m:t> </m:t>
                    </m:r>
                    <m:r>
                      <m:rPr>
                        <m:nor/>
                      </m:rPr>
                      <a:rPr lang="en-US" b="0" smtClean="0"/>
                      <m:t>(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Re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𝐗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ar-AE">
                            <a:latin typeface="Cambria Math" panose="02040503050406030204" pitchFamily="18" charset="0"/>
                          </a:rPr>
                          <m:t>∇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𝐗</m:t>
                            </m:r>
                          </m:e>
                        </m:d>
                      </m:e>
                    </m:d>
                    <m:r>
                      <m:rPr>
                        <m:nor/>
                      </m:rPr>
                      <a:rPr lang="en-US" b="0" smtClean="0"/>
                      <m:t>)</m:t>
                    </m:r>
                    <m:r>
                      <m:rPr>
                        <m:nor/>
                      </m:rPr>
                      <a:rPr lang="en-US" b="0" i="0" smtClean="0"/>
                      <m:t> </m:t>
                    </m:r>
                  </m:oMath>
                </a14:m>
                <a:endParaRPr lang="ar-AE" b="0" dirty="0"/>
              </a:p>
              <a:p>
                <a:pPr lvl="2"/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  <m:e>
                          <m:func>
                            <m:func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grad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func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ar-AE">
                              <a:latin typeface="Cambria Math" panose="02040503050406030204" pitchFamily="18" charset="0"/>
                            </a:rPr>
                            <m:t>∇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b="1"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m:rPr>
                              <m:nor/>
                            </m:rPr>
                            <a:rPr lang="ar-AE" i="1"/>
                            <m:t> 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ddiag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Re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ar-AE" b="1">
                                              <a:latin typeface="Cambria Math" panose="02040503050406030204" pitchFamily="18" charset="0"/>
                                            </a:rPr>
                                            <m:t>𝐗</m:t>
                                          </m:r>
                                        </m:e>
                                        <m:sup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sup>
                                      </m:sSup>
                                      <m:r>
                                        <m:rPr>
                                          <m:sty m:val="p"/>
                                        </m:rP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∇</m:t>
                                      </m:r>
                                      <m:sSub>
                                        <m:sSub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ar-AE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 b="1">
                                              <a:latin typeface="Cambria Math" panose="02040503050406030204" pitchFamily="18" charset="0"/>
                                            </a:rPr>
                                            <m:t>𝐗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  <m:e/>
                        <m:e/>
                      </m:mr>
                    </m:m>
                  </m:oMath>
                </a14:m>
                <a:r>
                  <a:rPr lang="en-US" b="0" dirty="0"/>
                  <a:t>                                                         (61)</a:t>
                </a:r>
                <a:endParaRPr lang="ar-AE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A9A940-3C2B-A732-9DB0-9E5F0159C4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BD1C19-A588-088B-D4EA-96615C3F0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72674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25758-1A5F-C495-7377-1998EEDC9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Beamforming Under Per-Antenna Power Constraint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8E7BED-6F54-DE0B-1354-85E734B7B9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Retraction and RCG Update</a:t>
                </a:r>
              </a:p>
              <a:p>
                <a:pPr lvl="1"/>
                <a:r>
                  <a:rPr lang="en-US" b="1" dirty="0"/>
                  <a:t>Retraction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</m:e>
                    </m:rad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𝐗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𝜂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𝐉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1" i="0">
                                                <a:latin typeface="Cambria Math" panose="02040503050406030204" pitchFamily="18" charset="0"/>
                                              </a:rPr>
                                              <m:t>𝐗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𝜂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1" i="0">
                                                <a:latin typeface="Cambria Math" panose="02040503050406030204" pitchFamily="18" charset="0"/>
                                              </a:rPr>
                                              <m:t>𝐉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,……,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1" i="0" smtClean="0">
                                            <a:latin typeface="Cambria Math" panose="02040503050406030204" pitchFamily="18" charset="0"/>
                                          </a:rPr>
                                          <m:t>𝐗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𝜂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1" i="0" smtClean="0">
                                            <a:latin typeface="Cambria Math" panose="02040503050406030204" pitchFamily="18" charset="0"/>
                                          </a:rPr>
                                          <m:t>𝐉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</m:num>
                          <m:den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1" i="0" smtClean="0">
                                                <a:latin typeface="Cambria Math" panose="02040503050406030204" pitchFamily="18" charset="0"/>
                                              </a:rPr>
                                              <m:t>𝐗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𝜂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1" i="0" smtClean="0">
                                                <a:latin typeface="Cambria Math" panose="02040503050406030204" pitchFamily="18" charset="0"/>
                                              </a:rPr>
                                              <m:t>𝐉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                                            (62)</a:t>
                </a:r>
                <a:endParaRPr lang="ar-AE" dirty="0"/>
              </a:p>
              <a:p>
                <a:pPr lvl="1"/>
                <a:r>
                  <a:rPr lang="en-US" b="1" dirty="0"/>
                  <a:t>Search direction</a:t>
                </a:r>
              </a:p>
              <a:p>
                <a:pPr lvl="2"/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  <m:e>
                          <m:sSub>
                            <m:sSubPr>
                              <m:ctrlPr>
                                <a:rPr lang="ar-AE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𝐉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=−</m:t>
                          </m:r>
                          <m:func>
                            <m:func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grad</m:t>
                              </m:r>
                            </m:fName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func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1">
                                      <a:latin typeface="Cambria Math" panose="02040503050406030204" pitchFamily="18" charset="0"/>
                                    </a:rPr>
                                    <m:t>𝐗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1">
                                      <a:latin typeface="Cambria Math" panose="02040503050406030204" pitchFamily="18" charset="0"/>
                                    </a:rPr>
                                    <m:t>𝐗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1">
                                      <a:latin typeface="Cambria Math" panose="02040503050406030204" pitchFamily="18" charset="0"/>
                                    </a:rPr>
                                    <m:t>𝐉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e/>
                        <m:e/>
                      </m:mr>
                    </m:m>
                  </m:oMath>
                </a14:m>
                <a:r>
                  <a:rPr lang="en-US" b="1" dirty="0"/>
                  <a:t>                                                         </a:t>
                </a:r>
                <a:r>
                  <a:rPr lang="en-US" dirty="0"/>
                  <a:t>(63)</a:t>
                </a:r>
                <a:endParaRPr lang="ar-AE" dirty="0"/>
              </a:p>
              <a:p>
                <a:pPr lvl="1"/>
                <a:r>
                  <a:rPr lang="en-US" b="1" dirty="0"/>
                  <a:t>Vector transport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𝐗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𝑔𝑟𝑎𝑑𝑓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𝐗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𝑃𝑟𝑜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𝐗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𝑔𝑟𝑎𝑑𝑓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𝐗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b="0" dirty="0"/>
                  <a:t>                                                      (64)</a:t>
                </a:r>
                <a:endParaRPr lang="ar-AE" b="0" dirty="0"/>
              </a:p>
              <a:p>
                <a:pPr lvl="1"/>
                <a:r>
                  <a:rPr lang="en-US" b="1" dirty="0"/>
                  <a:t>Polak–</a:t>
                </a:r>
                <a:r>
                  <a:rPr lang="en-US" b="1" dirty="0" err="1"/>
                  <a:t>Ribière</a:t>
                </a:r>
                <a:r>
                  <a:rPr lang="en-US" b="1" dirty="0"/>
                  <a:t> parameter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𝑔𝑟𝑎𝑑𝑓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𝑔𝑟𝑎𝑑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𝑔𝑟𝑎𝑑𝑓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&gt;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𝑔𝑟𝑎𝑑𝑓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𝑔𝑟𝑎𝑑𝑓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&gt;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b="0" dirty="0"/>
                  <a:t>                                                          (65)</a:t>
                </a:r>
                <a:endParaRPr lang="ar-AE" b="0" dirty="0"/>
              </a:p>
              <a:p>
                <a:pPr lvl="1"/>
                <a:r>
                  <a:rPr lang="en-US" b="1" dirty="0"/>
                  <a:t>Key message:</a:t>
                </a:r>
                <a:endParaRPr lang="en-US" dirty="0"/>
              </a:p>
              <a:p>
                <a:pPr lvl="2"/>
                <a:r>
                  <a:rPr lang="en-US" dirty="0"/>
                  <a:t>Retraction normalizes each column separately </a:t>
                </a:r>
              </a:p>
              <a:p>
                <a:pPr lvl="2"/>
                <a:r>
                  <a:rPr lang="en-US" dirty="0"/>
                  <a:t>This guarantees the per-antenna power constraint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8E7BED-6F54-DE0B-1354-85E734B7B9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95303B-5CA5-B690-5F4D-B514180BE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60163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E5326-70CE-4B9E-C6CA-CD5ABD5ED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Beamforming Under Per-Antenna Power Constraint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8FAF4B-4193-47A6-D8F9-B1527642C9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Algorithm 3: RCG for Per-Antenna Power Constraint </a:t>
                </a:r>
              </a:p>
              <a:p>
                <a:pPr lvl="1"/>
                <a:r>
                  <a:rPr lang="en-US" b="1" dirty="0"/>
                  <a:t>Input:</a:t>
                </a:r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𝐑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𝐇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𝚪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𝝆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ar-AE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l-G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dirty="0"/>
              </a:p>
              <a:p>
                <a:pPr lvl="1"/>
                <a:r>
                  <a:rPr lang="en-US" b="1" dirty="0"/>
                  <a:t>Steps:</a:t>
                </a:r>
                <a:endParaRPr lang="en-US" dirty="0"/>
              </a:p>
              <a:p>
                <a:pPr lvl="2"/>
                <a:r>
                  <a:rPr lang="en-US" dirty="0"/>
                  <a:t>Initialize randomly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Set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grad</m:t>
                        </m:r>
                      </m:fNam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func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𝐗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Repeat until convergence: </a:t>
                </a:r>
              </a:p>
              <a:p>
                <a:pPr lvl="3"/>
                <a:r>
                  <a:rPr lang="en-US" dirty="0"/>
                  <a:t>compute step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by Armijo rule </a:t>
                </a:r>
              </a:p>
              <a:p>
                <a:pPr lvl="3"/>
                <a:r>
                  <a:rPr lang="en-US" dirty="0"/>
                  <a:t>update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using retraction (62) </a:t>
                </a:r>
              </a:p>
              <a:p>
                <a:pPr lvl="3"/>
                <a:r>
                  <a:rPr lang="en-US" dirty="0"/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using (65) </a:t>
                </a:r>
              </a:p>
              <a:p>
                <a:pPr lvl="3"/>
                <a:r>
                  <a:rPr lang="en-US" dirty="0"/>
                  <a:t>update search direction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using (63) </a:t>
                </a:r>
              </a:p>
              <a:p>
                <a:pPr lvl="1"/>
                <a:r>
                  <a:rPr lang="en-US" b="1" dirty="0"/>
                  <a:t>Stopping rule:</a:t>
                </a:r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∥</m:t>
                    </m:r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grad</m:t>
                        </m:r>
                      </m:fNam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func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𝐗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endParaRPr lang="el-GR" b="0" dirty="0"/>
              </a:p>
              <a:p>
                <a:pPr lvl="2"/>
                <a:r>
                  <a:rPr lang="en-US" b="1" dirty="0"/>
                  <a:t>Takeaway:</a:t>
                </a:r>
                <a:endParaRPr lang="en-US" dirty="0"/>
              </a:p>
              <a:p>
                <a:pPr lvl="2"/>
                <a:r>
                  <a:rPr lang="en-US" dirty="0"/>
                  <a:t>Algorithm 3 is the oblique-manifold counterpart of Algorithm 2 </a:t>
                </a:r>
              </a:p>
              <a:p>
                <a:pPr lvl="2"/>
                <a:r>
                  <a:rPr lang="en-US" dirty="0"/>
                  <a:t>It directly enforces the per-antenna power constraint throughout the iterations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8FAF4B-4193-47A6-D8F9-B1527642C9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249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2BA048-6E82-48CE-C445-4875E9736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9189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21851</TotalTime>
  <Words>3469</Words>
  <Application>Microsoft Office PowerPoint</Application>
  <PresentationFormat>Widescreen</PresentationFormat>
  <Paragraphs>648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맑은 고딕</vt:lpstr>
      <vt:lpstr>Arial</vt:lpstr>
      <vt:lpstr>Cambria Math</vt:lpstr>
      <vt:lpstr>Tahoma</vt:lpstr>
      <vt:lpstr>Office 테마</vt:lpstr>
      <vt:lpstr>MU-MIMO Communications With MIMO Radar: From Co-Existence to Joint Transmission</vt:lpstr>
      <vt:lpstr>Table of Contents</vt:lpstr>
      <vt:lpstr>Abstract</vt:lpstr>
      <vt:lpstr>Abstract</vt:lpstr>
      <vt:lpstr>Introduction</vt:lpstr>
      <vt:lpstr>Introduction</vt:lpstr>
      <vt:lpstr>Introduction</vt:lpstr>
      <vt:lpstr>Introduction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Problem Formulation</vt:lpstr>
      <vt:lpstr>Problem Formulation</vt:lpstr>
      <vt:lpstr>Problem Formulation</vt:lpstr>
      <vt:lpstr>Problem Formulation</vt:lpstr>
      <vt:lpstr>Problem Formulation</vt:lpstr>
      <vt:lpstr>Problem Formulation</vt:lpstr>
      <vt:lpstr>Problem Formulation</vt:lpstr>
      <vt:lpstr>Problem Formulation</vt:lpstr>
      <vt:lpstr>Problem Formulation</vt:lpstr>
      <vt:lpstr>Problem Formulation</vt:lpstr>
      <vt:lpstr>Problem Formulation</vt:lpstr>
      <vt:lpstr>Problem Formulation</vt:lpstr>
      <vt:lpstr>Problem Formulation</vt:lpstr>
      <vt:lpstr>Problem Formulation</vt:lpstr>
      <vt:lpstr>Problem Formulation</vt:lpstr>
      <vt:lpstr>Problem Formulation</vt:lpstr>
      <vt:lpstr>Beamforming Optimization on The Manifold</vt:lpstr>
      <vt:lpstr>Beamforming Optimization on The Manifold</vt:lpstr>
      <vt:lpstr>Beamforming Optimization on The Manifold</vt:lpstr>
      <vt:lpstr>Beamforming Optimization on The Manifold</vt:lpstr>
      <vt:lpstr>Beamforming Optimization on The Manifold</vt:lpstr>
      <vt:lpstr>Beamforming Optimization on The Manifold</vt:lpstr>
      <vt:lpstr>Beamforming Optimization on The Manifold</vt:lpstr>
      <vt:lpstr>Beamforming Under Per-Antenna Power Constraint</vt:lpstr>
      <vt:lpstr>Beamforming Under Per-Antenna Power Constraint</vt:lpstr>
      <vt:lpstr>Beamforming Under Per-Antenna Power Constraint</vt:lpstr>
      <vt:lpstr>Beamforming Under Per-Antenna Power Constraint</vt:lpstr>
      <vt:lpstr>Beamforming Under Per-Antenna Power Constraint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Jihwan Moon</dc:creator>
  <cp:lastModifiedBy>Refat Khan</cp:lastModifiedBy>
  <cp:revision>212</cp:revision>
  <dcterms:created xsi:type="dcterms:W3CDTF">2018-05-20T06:28:16Z</dcterms:created>
  <dcterms:modified xsi:type="dcterms:W3CDTF">2026-04-08T11:17:33Z</dcterms:modified>
</cp:coreProperties>
</file>